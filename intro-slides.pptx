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58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92366-4CC6-B4F5-8E6E-D29803F18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96129-8FEA-9554-1939-388F00927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1640F-AF77-D96F-ED31-1D1D61132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AE69-97A3-418C-8011-56A60D6D443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A2B46-3CF2-E974-0082-4150A7F5B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73908-95BE-74BF-F561-40EE93C49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588-5B86-45B9-B782-8AA28E594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52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F6213-123A-BA0B-7ADC-98A7F0261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B0BC1-5688-AFA3-99F2-E3B512195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5A567-FF2B-D390-02EA-E47D6DB32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AE69-97A3-418C-8011-56A60D6D443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2C6CF-1192-3D6D-3D87-538CF300C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5CC92-0958-39E5-76C5-35D81F6F9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588-5B86-45B9-B782-8AA28E594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157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FD795-D376-4FED-B6AD-133FF96F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3FBEE-78EE-2774-8297-39DB34174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14E2A-01DC-0BA7-5FE3-3AA05BD5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AE69-97A3-418C-8011-56A60D6D443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9A53B-3D0C-F842-8C5C-6890B97FD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BB6B4-167B-09F0-0C32-56E84212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588-5B86-45B9-B782-8AA28E594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22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D8EF9-1F00-966A-BA7F-9F675AAA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B0187-A196-300F-3AA1-FBD52F0EB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F4ECA-932D-5BB4-7B67-34BA22E30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7688F-2205-977A-EA06-E84A8173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AE69-97A3-418C-8011-56A60D6D443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BBD1C-ADCF-9B86-81AF-5A8888FE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F642F-4230-8A89-6828-47CEEE2C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588-5B86-45B9-B782-8AA28E594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884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2E82-E77C-24FD-6483-B894D3AA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2F722-F514-B50E-952B-780B429BB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7F4C9-2769-C898-228E-86A084FE0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1CB75-8469-F6C8-9D79-E553D3E6C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676AC-5DA8-A6B3-0F6B-835DD1DCBB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1D1594-1D37-2278-D058-9FBFEBF93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AE69-97A3-418C-8011-56A60D6D443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CF3F43-B56B-AA39-9373-8BF3EB6C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C10DF3-EC0D-B247-3A77-409D9498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588-5B86-45B9-B782-8AA28E594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72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9D4D-1569-6340-F291-E6ED628E1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AB6A7-26C7-DC59-A922-EEDFEF346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AE69-97A3-418C-8011-56A60D6D443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CA6D2-23E5-0B44-0664-8DF42583F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D5668-F1AA-BBC9-C997-2C6666902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588-5B86-45B9-B782-8AA28E594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70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78DA57-D21B-C237-B68E-6371957E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AE69-97A3-418C-8011-56A60D6D443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FF5F1-C0D5-F169-B5F7-F76A13DF7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8D2C2-D30E-2E0F-5094-1D61C3A94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588-5B86-45B9-B782-8AA28E594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094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22D26-C745-6A28-CD3C-31048B4CA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759C8-F569-A6C8-18C1-A225A2832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EF97C-0587-0DBA-4384-C7253F46B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A2BCA-00A2-38C7-C45B-9EFC4296D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AE69-97A3-418C-8011-56A60D6D443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F5AB4-53E0-A46C-8811-315910962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BBBF9-51F5-0E45-4986-418E72694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588-5B86-45B9-B782-8AA28E594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91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30C3-BBB0-7CF8-D82F-347C7FA5D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74325F-BA9E-DF07-5190-13DE53F443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6F093-B022-EBE3-6366-B8616C138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41CB2-F812-8EBF-C400-F597B851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AE69-97A3-418C-8011-56A60D6D443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419A9-4E8F-EAB6-892A-31BA1CC5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C8730-74F7-37AD-3863-9D6B7DA8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588-5B86-45B9-B782-8AA28E594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066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6906-1DB8-4D46-A675-0362FEDF7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F912B7-A2B7-8D46-9451-7F5DB29D8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6EF0F-287E-B141-8703-A6BEDC28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AE69-97A3-418C-8011-56A60D6D443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E5B50-5633-B433-F15F-3DF9F8AB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60834-CCBC-13F8-96A3-8392F2BCA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588-5B86-45B9-B782-8AA28E594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57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3F0339-6A17-24F7-D71D-C1811DEAB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1442E-AA16-B352-6FCD-EBD6F2641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3899D-554A-C89F-0B7D-27BD036D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AE69-97A3-418C-8011-56A60D6D443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5AFA5-C1F0-19E6-5966-776FB3873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BAA85-D610-723D-B33B-81499EA5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588-5B86-45B9-B782-8AA28E594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7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C7FFAB-68B2-3365-924F-67DADAA97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82C3C-F01F-3C7C-5B6F-6AA173BC9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A4004-F02C-EDE9-5092-1C93EDC7E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A0AE69-97A3-418C-8011-56A60D6D443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8FFCB-79B5-1D09-1F7E-5554473B8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227F0-40E1-B256-1073-DFCE00B1E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14588-5B86-45B9-B782-8AA28E5943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25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teams.microsoft.com/l/channel/19%3A1b84fe785d0545cd93c4e23c76ea64ba%40thread.tacv2/RAP?groupId=aae45d96-55b6-40f0-82cc-854f4ce0b623&amp;tenantId=e7a13aea-9437-4db7-a22b-cfaa4ce33b6e" TargetMode="External"/><Relationship Id="rId3" Type="http://schemas.openxmlformats.org/officeDocument/2006/relationships/image" Target="../media/image3.jpg"/><Relationship Id="rId7" Type="http://schemas.openxmlformats.org/officeDocument/2006/relationships/hyperlink" Target="https://teams.microsoft.com/l/channel/19%3A6cc3c14d1d03438a991be5dae79bce0b%40thread.tacv2/Staff%20Training?groupId=aae45d96-55b6-40f0-82cc-854f4ce0b623&amp;tenantId=e7a13aea-9437-4db7-a22b-cfaa4ce33b6e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1.jpg"/><Relationship Id="rId10" Type="http://schemas.openxmlformats.org/officeDocument/2006/relationships/hyperlink" Target="https://github.com/NISRA-Tech-Lab/rap-skeleton-lite" TargetMode="External"/><Relationship Id="rId4" Type="http://schemas.openxmlformats.org/officeDocument/2006/relationships/image" Target="../media/image2.jpg"/><Relationship Id="rId9" Type="http://schemas.openxmlformats.org/officeDocument/2006/relationships/hyperlink" Target="https://github.com/NISRA-Tech-Lab/rap-skeleto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hyperlink" Target="https://dttselfserve.nidirect.gov.uk/NISRA/rateit#/Coffee_and_Coding_sessions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5EC964E-9E4F-F5B3-0200-B4C17C753EA1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13247"/>
          <a:stretch/>
        </p:blipFill>
        <p:spPr>
          <a:xfrm>
            <a:off x="9933704" y="1715400"/>
            <a:ext cx="2258296" cy="1715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07D184-5F27-694B-A4D7-7EC20FE79EDE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t="4243"/>
          <a:stretch/>
        </p:blipFill>
        <p:spPr>
          <a:xfrm>
            <a:off x="9933704" y="3430800"/>
            <a:ext cx="2258296" cy="1715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0AAE01-C1FE-17C7-17B5-AA84A3A30B16}"/>
              </a:ext>
            </a:extLst>
          </p:cNvPr>
          <p:cNvSpPr txBox="1"/>
          <p:nvPr/>
        </p:nvSpPr>
        <p:spPr>
          <a:xfrm>
            <a:off x="633933" y="1535430"/>
            <a:ext cx="90170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205C"/>
                </a:solidFill>
                <a:latin typeface="Franklin Gothic Demi" panose="020B0603020102020204" pitchFamily="34" charset="0"/>
              </a:rPr>
              <a:t>An introduction to R in NISRA</a:t>
            </a:r>
          </a:p>
          <a:p>
            <a:endParaRPr lang="en-US" sz="12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Coffee and Coding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089EB-5D11-CF46-1EE6-F30966460C77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l="28871" b="8972"/>
          <a:stretch/>
        </p:blipFill>
        <p:spPr>
          <a:xfrm>
            <a:off x="9933704" y="5146200"/>
            <a:ext cx="2258296" cy="1715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417460-079D-CCFF-AD35-A9813B5D000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477" t="5882"/>
          <a:stretch/>
        </p:blipFill>
        <p:spPr>
          <a:xfrm>
            <a:off x="9934811" y="0"/>
            <a:ext cx="2257189" cy="1715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67A4181-933F-86A3-EF95-A6BDBCB7B2A4}"/>
              </a:ext>
            </a:extLst>
          </p:cNvPr>
          <p:cNvSpPr/>
          <p:nvPr/>
        </p:nvSpPr>
        <p:spPr>
          <a:xfrm rot="5400000">
            <a:off x="6535847" y="3330528"/>
            <a:ext cx="6858000" cy="196943"/>
          </a:xfrm>
          <a:prstGeom prst="rect">
            <a:avLst/>
          </a:prstGeom>
          <a:solidFill>
            <a:srgbClr val="CA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95C88-FC0A-3758-865B-7B0E40F26B78}"/>
              </a:ext>
            </a:extLst>
          </p:cNvPr>
          <p:cNvSpPr txBox="1"/>
          <p:nvPr/>
        </p:nvSpPr>
        <p:spPr>
          <a:xfrm>
            <a:off x="768095" y="5666850"/>
            <a:ext cx="2724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Trusted statistics and research for a better society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B2A39D-F750-60F7-1C96-CFC02404F3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9934" y="5793588"/>
            <a:ext cx="2191012" cy="4206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5E4FE5-2AE2-7B09-B51A-C958012E8A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28" y="5793588"/>
            <a:ext cx="959623" cy="7437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B8814A-54D6-A1F8-1175-B9644D5C51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302" y="5793588"/>
            <a:ext cx="2121650" cy="74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764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A17B4-2829-C04E-C2D1-8E81EB68F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16EF0D-FEAE-5EC0-48C4-D41BF36C6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34" y="482879"/>
            <a:ext cx="4314419" cy="7998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CC03FB9-4566-5A61-7F4D-33B65A0604F2}"/>
              </a:ext>
            </a:extLst>
          </p:cNvPr>
          <p:cNvSpPr/>
          <p:nvPr/>
        </p:nvSpPr>
        <p:spPr>
          <a:xfrm>
            <a:off x="0" y="1466088"/>
            <a:ext cx="12192000" cy="90000"/>
          </a:xfrm>
          <a:prstGeom prst="rect">
            <a:avLst/>
          </a:prstGeom>
          <a:solidFill>
            <a:srgbClr val="002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FD7CE9-5368-226C-DF4C-726D0075A55D}"/>
              </a:ext>
            </a:extLst>
          </p:cNvPr>
          <p:cNvSpPr txBox="1"/>
          <p:nvPr/>
        </p:nvSpPr>
        <p:spPr>
          <a:xfrm>
            <a:off x="627014" y="1739476"/>
            <a:ext cx="10868299" cy="5073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>
                <a:solidFill>
                  <a:srgbClr val="00205C"/>
                </a:solidFill>
                <a:latin typeface="Franklin Gothic Demi" panose="020B0603020102020204" pitchFamily="34" charset="0"/>
              </a:rPr>
              <a:t>Overview of sessions</a:t>
            </a:r>
          </a:p>
          <a:p>
            <a:pPr marL="457200">
              <a:buNone/>
            </a:pPr>
            <a:r>
              <a:rPr lang="en-GB" sz="1600" dirty="0"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 </a:t>
            </a:r>
            <a:endParaRPr lang="en-GB" sz="1600" dirty="0">
              <a:effectLst/>
              <a:latin typeface="Franklin Gothic Book" panose="020B0503020102020204" pitchFamily="34" charset="0"/>
              <a:ea typeface="Calibri" panose="020F0502020204030204" pitchFamily="34" charset="0"/>
            </a:endParaRPr>
          </a:p>
          <a:p>
            <a:pPr lvl="0" indent="-342900">
              <a:spcAft>
                <a:spcPts val="1020"/>
              </a:spcAft>
              <a:buNone/>
              <a:tabLst>
                <a:tab pos="457200" algn="l"/>
              </a:tabLst>
            </a:pP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This introductory set of sessions is delivered in 2 parts (A and B)</a:t>
            </a:r>
          </a:p>
          <a:p>
            <a:pPr lvl="0" indent="-342900">
              <a:spcAft>
                <a:spcPts val="102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4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It is assumed you have attended Part A when attending Part B</a:t>
            </a:r>
          </a:p>
          <a:p>
            <a:pPr lvl="0" indent="-342900">
              <a:spcAft>
                <a:spcPts val="102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4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If you missed Part A, it is advised that you wait until the next month for a spot on that session, before booking into Part B</a:t>
            </a:r>
          </a:p>
          <a:p>
            <a:pPr lvl="0" indent="-342900">
              <a:spcAft>
                <a:spcPts val="1020"/>
              </a:spcAft>
              <a:buNone/>
              <a:tabLst>
                <a:tab pos="457200" algn="l"/>
              </a:tabLst>
            </a:pPr>
            <a:endParaRPr lang="en-GB" sz="16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pPr lvl="0" indent="-342900">
              <a:spcAft>
                <a:spcPts val="1020"/>
              </a:spcAft>
              <a:buNone/>
              <a:tabLst>
                <a:tab pos="457200" algn="l"/>
              </a:tabLst>
            </a:pP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In Part A we cover:</a:t>
            </a:r>
          </a:p>
          <a:p>
            <a:pPr lvl="0" indent="-342900">
              <a:spcAft>
                <a:spcPts val="102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4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Stuff</a:t>
            </a:r>
          </a:p>
          <a:p>
            <a:pPr lvl="0" indent="-342900">
              <a:spcAft>
                <a:spcPts val="102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4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More stuff</a:t>
            </a:r>
          </a:p>
          <a:p>
            <a:pPr lvl="0" indent="-342900">
              <a:spcAft>
                <a:spcPts val="102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GB" sz="16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pPr lvl="0">
              <a:spcAft>
                <a:spcPts val="1020"/>
              </a:spcAft>
              <a:tabLst>
                <a:tab pos="457200" algn="l"/>
              </a:tabLst>
            </a:pP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In Part B we cover:</a:t>
            </a:r>
          </a:p>
          <a:p>
            <a:pPr marL="285750" lvl="0" indent="-285750">
              <a:spcAft>
                <a:spcPts val="102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4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Things </a:t>
            </a:r>
          </a:p>
          <a:p>
            <a:pPr marL="285750" lvl="0" indent="-285750">
              <a:spcAft>
                <a:spcPts val="102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4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More things</a:t>
            </a:r>
          </a:p>
          <a:p>
            <a:pPr marL="285750" lvl="0" indent="-285750">
              <a:spcAft>
                <a:spcPts val="102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GB" sz="16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03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F49D3-41E2-98C3-0754-51D6D778D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EBF899-CD0E-BFA2-6D3E-63D31E37E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34" y="482879"/>
            <a:ext cx="4314419" cy="7998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1B7551-AD05-03CB-F1E3-7779C02F477F}"/>
              </a:ext>
            </a:extLst>
          </p:cNvPr>
          <p:cNvSpPr/>
          <p:nvPr/>
        </p:nvSpPr>
        <p:spPr>
          <a:xfrm>
            <a:off x="0" y="1466088"/>
            <a:ext cx="12192000" cy="90000"/>
          </a:xfrm>
          <a:prstGeom prst="rect">
            <a:avLst/>
          </a:prstGeom>
          <a:solidFill>
            <a:srgbClr val="002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D29B2-FF87-E578-E872-CE5CDB07A32E}"/>
              </a:ext>
            </a:extLst>
          </p:cNvPr>
          <p:cNvSpPr txBox="1"/>
          <p:nvPr/>
        </p:nvSpPr>
        <p:spPr>
          <a:xfrm>
            <a:off x="627015" y="1739476"/>
            <a:ext cx="8961120" cy="481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rgbClr val="00205C"/>
                </a:solidFill>
                <a:latin typeface="Franklin Gothic Demi" panose="020B0603020102020204" pitchFamily="34" charset="0"/>
              </a:rPr>
              <a:t>Why R?</a:t>
            </a:r>
          </a:p>
          <a:p>
            <a:pPr marL="457200">
              <a:buNone/>
            </a:pPr>
            <a:r>
              <a:rPr lang="en-GB" sz="1600" dirty="0"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 </a:t>
            </a:r>
            <a:endParaRPr lang="en-GB" sz="1600" dirty="0">
              <a:effectLst/>
              <a:latin typeface="Franklin Gothic Book" panose="020B0503020102020204" pitchFamily="34" charset="0"/>
              <a:ea typeface="Calibri" panose="020F0502020204030204" pitchFamily="34" charset="0"/>
            </a:endParaRPr>
          </a:p>
          <a:p>
            <a:pPr lvl="0" indent="-342900">
              <a:spcAft>
                <a:spcPts val="1020"/>
              </a:spcAft>
              <a:buNone/>
              <a:tabLst>
                <a:tab pos="457200" algn="l"/>
              </a:tabLst>
            </a:pP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Free and Open Source</a:t>
            </a:r>
          </a:p>
          <a:p>
            <a:pPr lvl="0" indent="-342900">
              <a:spcAft>
                <a:spcPts val="102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Large support community</a:t>
            </a:r>
          </a:p>
          <a:p>
            <a:pPr lvl="0" indent="-342900">
              <a:spcAft>
                <a:spcPts val="102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Highly flexible and extensible</a:t>
            </a:r>
          </a:p>
          <a:p>
            <a:pPr lvl="0" indent="-342900">
              <a:spcAft>
                <a:spcPts val="1020"/>
              </a:spcAft>
              <a:buNone/>
              <a:tabLst>
                <a:tab pos="457200" algn="l"/>
              </a:tabLst>
            </a:pPr>
            <a:endParaRPr lang="en-GB" sz="105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pPr lvl="0" indent="-342900">
              <a:spcAft>
                <a:spcPts val="1020"/>
              </a:spcAft>
              <a:buNone/>
              <a:tabLst>
                <a:tab pos="457200" algn="l"/>
              </a:tabLst>
            </a:pP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NISRA direction is to use R as a default – consistency across agency and cost savings</a:t>
            </a:r>
          </a:p>
          <a:p>
            <a:pPr lvl="0" indent="-342900">
              <a:spcAft>
                <a:spcPts val="1020"/>
              </a:spcAft>
              <a:buNone/>
              <a:tabLst>
                <a:tab pos="457200" algn="l"/>
              </a:tabLst>
            </a:pPr>
            <a:endParaRPr lang="en-GB" sz="105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pPr lvl="0" indent="-342900">
              <a:spcAft>
                <a:spcPts val="1020"/>
              </a:spcAft>
              <a:buNone/>
              <a:tabLst>
                <a:tab pos="457200" algn="l"/>
              </a:tabLst>
            </a:pP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Not just a pure statistics software</a:t>
            </a:r>
          </a:p>
          <a:p>
            <a:pPr lvl="0" indent="-342900">
              <a:spcAft>
                <a:spcPts val="102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Everything you would expect from a stats package</a:t>
            </a:r>
          </a:p>
          <a:p>
            <a:pPr lvl="0" indent="-342900">
              <a:spcAft>
                <a:spcPts val="102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Great chart and mapping options</a:t>
            </a:r>
          </a:p>
          <a:p>
            <a:pPr lvl="0" indent="-342900">
              <a:spcAft>
                <a:spcPts val="102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Digital document creation (HTML/PDF etc.)</a:t>
            </a:r>
          </a:p>
          <a:p>
            <a:pPr lvl="0">
              <a:spcAft>
                <a:spcPts val="1020"/>
              </a:spcAft>
              <a:tabLst>
                <a:tab pos="457200" algn="l"/>
              </a:tabLst>
            </a:pPr>
            <a:endParaRPr lang="en-GB" sz="105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pPr lvl="0">
              <a:spcAft>
                <a:spcPts val="1020"/>
              </a:spcAft>
              <a:tabLst>
                <a:tab pos="457200" algn="l"/>
              </a:tabLst>
            </a:pP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Analysis that is transparent, easy to share and with high levels of reproducibility</a:t>
            </a:r>
            <a:endParaRPr lang="en-GB" sz="11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77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45214-2985-BE4F-9750-CC1188081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A1A58E-9E32-B5C5-3C8E-92E4BE72F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34" y="482879"/>
            <a:ext cx="4314419" cy="7998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98BF47-6165-CE01-D7B1-2E2A6BFABB5C}"/>
              </a:ext>
            </a:extLst>
          </p:cNvPr>
          <p:cNvSpPr/>
          <p:nvPr/>
        </p:nvSpPr>
        <p:spPr>
          <a:xfrm>
            <a:off x="0" y="1466088"/>
            <a:ext cx="12192000" cy="90000"/>
          </a:xfrm>
          <a:prstGeom prst="rect">
            <a:avLst/>
          </a:prstGeom>
          <a:solidFill>
            <a:srgbClr val="002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1C740-3081-CC6B-F98A-B909BFF80DE3}"/>
              </a:ext>
            </a:extLst>
          </p:cNvPr>
          <p:cNvSpPr txBox="1"/>
          <p:nvPr/>
        </p:nvSpPr>
        <p:spPr>
          <a:xfrm>
            <a:off x="627015" y="1739476"/>
            <a:ext cx="896112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rgbClr val="00205C"/>
                </a:solidFill>
                <a:latin typeface="Franklin Gothic Demi" panose="020B0603020102020204" pitchFamily="34" charset="0"/>
              </a:rPr>
              <a:t>R vs R Studio</a:t>
            </a:r>
          </a:p>
          <a:p>
            <a:pPr marL="457200">
              <a:buNone/>
            </a:pPr>
            <a:r>
              <a:rPr lang="en-GB" sz="1600" dirty="0">
                <a:effectLst/>
                <a:latin typeface="Franklin Gothic Book" panose="020B0503020102020204" pitchFamily="34" charset="0"/>
                <a:ea typeface="Times New Roman" panose="02020603050405020304" pitchFamily="18" charset="0"/>
              </a:rPr>
              <a:t> </a:t>
            </a:r>
            <a:endParaRPr lang="en-GB" sz="1600" dirty="0">
              <a:effectLst/>
              <a:latin typeface="Franklin Gothic Book" panose="020B0503020102020204" pitchFamily="34" charset="0"/>
              <a:ea typeface="Calibri" panose="020F0502020204030204" pitchFamily="34" charset="0"/>
            </a:endParaRPr>
          </a:p>
          <a:p>
            <a:pPr lvl="0" indent="-342900">
              <a:spcAft>
                <a:spcPts val="1020"/>
              </a:spcAft>
              <a:buNone/>
              <a:tabLst>
                <a:tab pos="457200" algn="l"/>
              </a:tabLst>
            </a:pP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R is a software with different versions available e.g. v4.2.1, v4.4.0</a:t>
            </a:r>
          </a:p>
          <a:p>
            <a:pPr lvl="0" indent="-342900">
              <a:spcAft>
                <a:spcPts val="1020"/>
              </a:spcAft>
              <a:buNone/>
              <a:tabLst>
                <a:tab pos="457200" algn="l"/>
              </a:tabLst>
            </a:pPr>
            <a:r>
              <a:rPr lang="en-GB" sz="1600" dirty="0" err="1">
                <a:solidFill>
                  <a:srgbClr val="00205C"/>
                </a:solidFill>
                <a:latin typeface="Franklin Gothic Book" panose="020B0503020102020204" pitchFamily="34" charset="0"/>
              </a:rPr>
              <a:t>Rstudio</a:t>
            </a:r>
            <a:r>
              <a:rPr lang="en-GB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 is a development environment (IDE) that is made for R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EFC54F-7BB7-8048-69F6-4FE072367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29" y="3251433"/>
            <a:ext cx="4924508" cy="3253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74431-DC49-289D-BC73-B837BE9DE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265" y="3251433"/>
            <a:ext cx="4924508" cy="3253997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CDCD36-5DAF-5C81-D421-802E2E80B96C}"/>
              </a:ext>
            </a:extLst>
          </p:cNvPr>
          <p:cNvSpPr txBox="1"/>
          <p:nvPr/>
        </p:nvSpPr>
        <p:spPr>
          <a:xfrm>
            <a:off x="3423425" y="5391912"/>
            <a:ext cx="2057878" cy="369332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RGui</a:t>
            </a:r>
            <a:r>
              <a:rPr lang="en-US" b="1" dirty="0"/>
              <a:t> (Standard R)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320534-4378-0310-2B5D-ABBAD5E20C05}"/>
              </a:ext>
            </a:extLst>
          </p:cNvPr>
          <p:cNvSpPr txBox="1"/>
          <p:nvPr/>
        </p:nvSpPr>
        <p:spPr>
          <a:xfrm>
            <a:off x="9382146" y="5391912"/>
            <a:ext cx="1983283" cy="369332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RStudio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32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066EF-0B3E-D29E-476A-EC8D333D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9B9910-431D-BE86-89E3-4746363B5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80" y="174220"/>
            <a:ext cx="1996903" cy="3701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AB0D266-4E28-EA7A-AF66-26DE8C997392}"/>
              </a:ext>
            </a:extLst>
          </p:cNvPr>
          <p:cNvSpPr/>
          <p:nvPr/>
        </p:nvSpPr>
        <p:spPr>
          <a:xfrm>
            <a:off x="0" y="612890"/>
            <a:ext cx="12192000" cy="90000"/>
          </a:xfrm>
          <a:prstGeom prst="rect">
            <a:avLst/>
          </a:prstGeom>
          <a:solidFill>
            <a:srgbClr val="002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55E7E1-1155-11CA-D672-2EC11C7B7DE1}"/>
              </a:ext>
            </a:extLst>
          </p:cNvPr>
          <p:cNvSpPr txBox="1"/>
          <p:nvPr/>
        </p:nvSpPr>
        <p:spPr>
          <a:xfrm>
            <a:off x="235129" y="979778"/>
            <a:ext cx="8961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b="1" dirty="0">
                <a:solidFill>
                  <a:srgbClr val="00205C"/>
                </a:solidFill>
                <a:latin typeface="Franklin Gothic Demi" panose="020B0603020102020204" pitchFamily="34" charset="0"/>
              </a:rPr>
              <a:t>R Studio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DE7D5F-59A3-E40D-3254-D28867987533}"/>
              </a:ext>
            </a:extLst>
          </p:cNvPr>
          <p:cNvSpPr txBox="1"/>
          <p:nvPr/>
        </p:nvSpPr>
        <p:spPr>
          <a:xfrm>
            <a:off x="1054596" y="1917680"/>
            <a:ext cx="1983283" cy="369332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Scripting Pane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9554A9-9F2C-AB59-BD3B-1BC78B52D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571" y="773748"/>
            <a:ext cx="7688639" cy="58029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2F9F07C-094A-81D7-2329-DBEABE922FF7}"/>
              </a:ext>
            </a:extLst>
          </p:cNvPr>
          <p:cNvSpPr txBox="1"/>
          <p:nvPr/>
        </p:nvSpPr>
        <p:spPr>
          <a:xfrm>
            <a:off x="1054596" y="5291453"/>
            <a:ext cx="1983283" cy="369332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Console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6C0943-9CFC-BC0E-1ECF-4495AC05F14A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037879" y="2102346"/>
            <a:ext cx="964294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4018EB2A-084F-94F3-2ED1-17CB991DA1EF}"/>
              </a:ext>
            </a:extLst>
          </p:cNvPr>
          <p:cNvSpPr/>
          <p:nvPr/>
        </p:nvSpPr>
        <p:spPr>
          <a:xfrm>
            <a:off x="4002173" y="1282390"/>
            <a:ext cx="45719" cy="2988527"/>
          </a:xfrm>
          <a:prstGeom prst="leftBracket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B28DD4-F3F3-4EE8-160E-7BC0AD358E64}"/>
              </a:ext>
            </a:extLst>
          </p:cNvPr>
          <p:cNvSpPr/>
          <p:nvPr/>
        </p:nvSpPr>
        <p:spPr>
          <a:xfrm>
            <a:off x="9322420" y="1059304"/>
            <a:ext cx="568712" cy="302612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79D86F4-3353-8520-DEC8-16C5F2A645F6}"/>
              </a:ext>
            </a:extLst>
          </p:cNvPr>
          <p:cNvSpPr/>
          <p:nvPr/>
        </p:nvSpPr>
        <p:spPr>
          <a:xfrm>
            <a:off x="9283391" y="3824995"/>
            <a:ext cx="442541" cy="302612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23CF93F-D267-8240-CC8E-2AABEDF18CB2}"/>
              </a:ext>
            </a:extLst>
          </p:cNvPr>
          <p:cNvSpPr/>
          <p:nvPr/>
        </p:nvSpPr>
        <p:spPr>
          <a:xfrm>
            <a:off x="11256498" y="907998"/>
            <a:ext cx="568712" cy="302612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C81FBBA-8713-7A2A-4CB7-D10D413092E1}"/>
              </a:ext>
            </a:extLst>
          </p:cNvPr>
          <p:cNvCxnSpPr>
            <a:cxnSpLocks/>
          </p:cNvCxnSpPr>
          <p:nvPr/>
        </p:nvCxnSpPr>
        <p:spPr>
          <a:xfrm>
            <a:off x="3037879" y="5416799"/>
            <a:ext cx="964294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BEC4CF30-D493-36BF-75A5-370231B20D2B}"/>
              </a:ext>
            </a:extLst>
          </p:cNvPr>
          <p:cNvSpPr/>
          <p:nvPr/>
        </p:nvSpPr>
        <p:spPr>
          <a:xfrm>
            <a:off x="4002173" y="4596843"/>
            <a:ext cx="45719" cy="1979867"/>
          </a:xfrm>
          <a:prstGeom prst="leftBracket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15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7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10C49-E4D5-712B-E654-426C5A44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AB591E-6727-0D9D-F42A-966C355B8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80" y="174220"/>
            <a:ext cx="1996903" cy="3701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CD115C2-F4A0-03D1-05AD-0C3C17C6F4B0}"/>
              </a:ext>
            </a:extLst>
          </p:cNvPr>
          <p:cNvSpPr/>
          <p:nvPr/>
        </p:nvSpPr>
        <p:spPr>
          <a:xfrm>
            <a:off x="0" y="612890"/>
            <a:ext cx="12192000" cy="90000"/>
          </a:xfrm>
          <a:prstGeom prst="rect">
            <a:avLst/>
          </a:prstGeom>
          <a:solidFill>
            <a:srgbClr val="002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9D1FF-A755-9FBF-EC9A-4C4178C320D6}"/>
              </a:ext>
            </a:extLst>
          </p:cNvPr>
          <p:cNvSpPr txBox="1"/>
          <p:nvPr/>
        </p:nvSpPr>
        <p:spPr>
          <a:xfrm>
            <a:off x="235129" y="979778"/>
            <a:ext cx="8961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>
                <a:solidFill>
                  <a:srgbClr val="00205C"/>
                </a:solidFill>
                <a:latin typeface="Franklin Gothic Demi" panose="020B0603020102020204" pitchFamily="34" charset="0"/>
              </a:rPr>
              <a:t>R Studio Overview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23ACFF-4203-D70B-47FF-26D4D876B162}"/>
              </a:ext>
            </a:extLst>
          </p:cNvPr>
          <p:cNvSpPr txBox="1"/>
          <p:nvPr/>
        </p:nvSpPr>
        <p:spPr>
          <a:xfrm>
            <a:off x="1206997" y="2248982"/>
            <a:ext cx="1983283" cy="369332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History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CCB235-335E-CB27-0C48-708496434E22}"/>
              </a:ext>
            </a:extLst>
          </p:cNvPr>
          <p:cNvSpPr txBox="1"/>
          <p:nvPr/>
        </p:nvSpPr>
        <p:spPr>
          <a:xfrm>
            <a:off x="1206997" y="5271576"/>
            <a:ext cx="1983283" cy="369332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Plots/Viewer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081DD3-4CD9-15C3-60FC-CBA7F2862D79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190280" y="2433648"/>
            <a:ext cx="440813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CE0503EA-6DA7-267B-0A3F-0B2ADD0D5348}"/>
              </a:ext>
            </a:extLst>
          </p:cNvPr>
          <p:cNvSpPr/>
          <p:nvPr/>
        </p:nvSpPr>
        <p:spPr>
          <a:xfrm>
            <a:off x="3644368" y="1196253"/>
            <a:ext cx="45719" cy="2734952"/>
          </a:xfrm>
          <a:prstGeom prst="leftBracket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D755233-2FAC-B429-17FB-D188EF7D8458}"/>
              </a:ext>
            </a:extLst>
          </p:cNvPr>
          <p:cNvCxnSpPr>
            <a:cxnSpLocks/>
          </p:cNvCxnSpPr>
          <p:nvPr/>
        </p:nvCxnSpPr>
        <p:spPr>
          <a:xfrm>
            <a:off x="3190280" y="5463182"/>
            <a:ext cx="440813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066FFA3B-B4AD-92EC-9DCC-61EA89D2070E}"/>
              </a:ext>
            </a:extLst>
          </p:cNvPr>
          <p:cNvSpPr/>
          <p:nvPr/>
        </p:nvSpPr>
        <p:spPr>
          <a:xfrm>
            <a:off x="3644368" y="4008784"/>
            <a:ext cx="45719" cy="2675651"/>
          </a:xfrm>
          <a:prstGeom prst="leftBracket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489917-2932-D303-8AD8-1121D5002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106" y="1126434"/>
            <a:ext cx="2424994" cy="55646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AF92F7-E015-6928-B1A7-4F2227D94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552" y="1126435"/>
            <a:ext cx="2442005" cy="55646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8EBE7D-3B33-E28E-5F74-1163DE83C6D4}"/>
              </a:ext>
            </a:extLst>
          </p:cNvPr>
          <p:cNvSpPr txBox="1"/>
          <p:nvPr/>
        </p:nvSpPr>
        <p:spPr>
          <a:xfrm>
            <a:off x="6942074" y="2302003"/>
            <a:ext cx="1983283" cy="369332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Git integration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4EBCBA-1A13-711B-6386-826D20E39C03}"/>
              </a:ext>
            </a:extLst>
          </p:cNvPr>
          <p:cNvSpPr txBox="1"/>
          <p:nvPr/>
        </p:nvSpPr>
        <p:spPr>
          <a:xfrm>
            <a:off x="6942074" y="5278216"/>
            <a:ext cx="1983283" cy="369332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 Help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2C2020-F1A7-631D-AFAC-872A5A4BF1E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8925357" y="2486669"/>
            <a:ext cx="36441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E9A8B137-7ED5-2237-0ED2-AEBE6EDF5BD3}"/>
              </a:ext>
            </a:extLst>
          </p:cNvPr>
          <p:cNvSpPr/>
          <p:nvPr/>
        </p:nvSpPr>
        <p:spPr>
          <a:xfrm>
            <a:off x="9299936" y="1209520"/>
            <a:ext cx="45719" cy="2734952"/>
          </a:xfrm>
          <a:prstGeom prst="leftBracket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2F2A2C-145C-FDED-D61D-5DFD0619F9C3}"/>
              </a:ext>
            </a:extLst>
          </p:cNvPr>
          <p:cNvCxnSpPr>
            <a:cxnSpLocks/>
          </p:cNvCxnSpPr>
          <p:nvPr/>
        </p:nvCxnSpPr>
        <p:spPr>
          <a:xfrm>
            <a:off x="8925357" y="5469822"/>
            <a:ext cx="36441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C023687F-A206-F0B9-AD12-85B2A6E1E169}"/>
              </a:ext>
            </a:extLst>
          </p:cNvPr>
          <p:cNvSpPr/>
          <p:nvPr/>
        </p:nvSpPr>
        <p:spPr>
          <a:xfrm>
            <a:off x="9299936" y="4035303"/>
            <a:ext cx="45719" cy="2675651"/>
          </a:xfrm>
          <a:prstGeom prst="leftBracket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04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7" grpId="0" animBg="1"/>
      <p:bldP spid="30" grpId="0" animBg="1"/>
      <p:bldP spid="13" grpId="0" animBg="1"/>
      <p:bldP spid="15" grpId="0" animBg="1"/>
      <p:bldP spid="19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07619-E6C6-1B78-3A4F-607874F42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AEA23F-AE9D-1AC3-B8A1-16213A76F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80" y="174220"/>
            <a:ext cx="1996903" cy="3701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93DCD4-6F12-25DB-59C8-D899A4CA5B47}"/>
              </a:ext>
            </a:extLst>
          </p:cNvPr>
          <p:cNvSpPr/>
          <p:nvPr/>
        </p:nvSpPr>
        <p:spPr>
          <a:xfrm>
            <a:off x="0" y="612890"/>
            <a:ext cx="12192000" cy="90000"/>
          </a:xfrm>
          <a:prstGeom prst="rect">
            <a:avLst/>
          </a:prstGeom>
          <a:solidFill>
            <a:srgbClr val="002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F125D-1196-DE23-C1E6-117ECA4F34A5}"/>
              </a:ext>
            </a:extLst>
          </p:cNvPr>
          <p:cNvSpPr txBox="1"/>
          <p:nvPr/>
        </p:nvSpPr>
        <p:spPr>
          <a:xfrm>
            <a:off x="235129" y="979778"/>
            <a:ext cx="8961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b="1" dirty="0">
                <a:solidFill>
                  <a:srgbClr val="00205C"/>
                </a:solidFill>
                <a:latin typeface="Franklin Gothic Demi" panose="020B0603020102020204" pitchFamily="34" charset="0"/>
              </a:rPr>
              <a:t>Workshop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7FCAE0-9E8B-B397-8BDE-B5C2F0B2017F}"/>
              </a:ext>
            </a:extLst>
          </p:cNvPr>
          <p:cNvSpPr txBox="1"/>
          <p:nvPr/>
        </p:nvSpPr>
        <p:spPr>
          <a:xfrm>
            <a:off x="235128" y="1609157"/>
            <a:ext cx="442608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Franklin Gothic Book" panose="020B0503020102020204" pitchFamily="34" charset="0"/>
              </a:rPr>
              <a:t>Open ‘</a:t>
            </a:r>
            <a:r>
              <a:rPr lang="en-US" sz="1600" b="1" dirty="0">
                <a:latin typeface="Franklin Gothic Book" panose="020B0503020102020204" pitchFamily="34" charset="0"/>
              </a:rPr>
              <a:t>r-intro-coffee-</a:t>
            </a:r>
            <a:r>
              <a:rPr lang="en-US" sz="1600" b="1" dirty="0" err="1">
                <a:latin typeface="Franklin Gothic Book" panose="020B0503020102020204" pitchFamily="34" charset="0"/>
              </a:rPr>
              <a:t>coding.Rproj</a:t>
            </a:r>
            <a:r>
              <a:rPr lang="en-US" sz="1600" dirty="0">
                <a:latin typeface="Franklin Gothic Book" panose="020B0503020102020204" pitchFamily="34" charset="0"/>
              </a:rPr>
              <a:t>’ from downloaded and unzipped folder</a:t>
            </a:r>
          </a:p>
          <a:p>
            <a:endParaRPr lang="en-US" sz="1600" dirty="0">
              <a:latin typeface="Franklin Gothic Book" panose="020B0503020102020204" pitchFamily="34" charset="0"/>
            </a:endParaRPr>
          </a:p>
          <a:p>
            <a:r>
              <a:rPr lang="en-US" sz="1600" dirty="0">
                <a:latin typeface="Franklin Gothic Book" panose="020B0503020102020204" pitchFamily="34" charset="0"/>
              </a:rPr>
              <a:t>You will know you are in the correct project if you see CC-r-intro in the very top right</a:t>
            </a:r>
          </a:p>
          <a:p>
            <a:endParaRPr lang="en-US" sz="1600" dirty="0">
              <a:latin typeface="Franklin Gothic Book" panose="020B0503020102020204" pitchFamily="34" charset="0"/>
            </a:endParaRPr>
          </a:p>
          <a:p>
            <a:r>
              <a:rPr lang="en-US" sz="1600" dirty="0">
                <a:latin typeface="Franklin Gothic Book" panose="020B0503020102020204" pitchFamily="34" charset="0"/>
              </a:rPr>
              <a:t>Check the project package status by going to the </a:t>
            </a:r>
            <a:r>
              <a:rPr lang="en-US" sz="1600" b="1" dirty="0">
                <a:latin typeface="Franklin Gothic Book" panose="020B0503020102020204" pitchFamily="34" charset="0"/>
              </a:rPr>
              <a:t>Console</a:t>
            </a:r>
            <a:r>
              <a:rPr lang="en-US" sz="1600" dirty="0">
                <a:latin typeface="Franklin Gothic Book" panose="020B0503020102020204" pitchFamily="34" charset="0"/>
              </a:rPr>
              <a:t> and typing “</a:t>
            </a:r>
            <a:r>
              <a:rPr lang="en-US" sz="1600" b="1" dirty="0" err="1">
                <a:latin typeface="Franklin Gothic Book" panose="020B0503020102020204" pitchFamily="34" charset="0"/>
              </a:rPr>
              <a:t>renv</a:t>
            </a:r>
            <a:r>
              <a:rPr lang="en-US" sz="1600" b="1" dirty="0">
                <a:latin typeface="Aptos" panose="020B0004020202020204" pitchFamily="34" charset="0"/>
              </a:rPr>
              <a:t>::</a:t>
            </a:r>
            <a:r>
              <a:rPr lang="en-US" sz="1600" b="1" dirty="0">
                <a:latin typeface="Franklin Gothic Book" panose="020B0503020102020204" pitchFamily="34" charset="0"/>
              </a:rPr>
              <a:t>status()</a:t>
            </a:r>
            <a:r>
              <a:rPr lang="en-US" sz="1600" dirty="0">
                <a:latin typeface="Franklin Gothic Book" panose="020B0503020102020204" pitchFamily="34" charset="0"/>
              </a:rPr>
              <a:t>” and hitting Enter. You should see the message “</a:t>
            </a:r>
            <a:r>
              <a:rPr lang="en-US" altLang="en-US" sz="1600" b="1" dirty="0">
                <a:latin typeface="Franklin Gothic Book" panose="020B0503020102020204" pitchFamily="34" charset="0"/>
              </a:rPr>
              <a:t>No issues found -- the project is in a consistent state.</a:t>
            </a:r>
            <a:r>
              <a:rPr lang="en-US" sz="1600" b="1" dirty="0">
                <a:latin typeface="Franklin Gothic Book" panose="020B0503020102020204" pitchFamily="34" charset="0"/>
              </a:rPr>
              <a:t>”</a:t>
            </a:r>
            <a:r>
              <a:rPr lang="en-US" sz="1600" dirty="0">
                <a:latin typeface="Franklin Gothic Book" panose="020B0503020102020204" pitchFamily="34" charset="0"/>
              </a:rPr>
              <a:t> </a:t>
            </a:r>
          </a:p>
          <a:p>
            <a:endParaRPr lang="en-US" sz="1600" b="1" dirty="0">
              <a:latin typeface="Franklin Gothic Book" panose="020B0503020102020204" pitchFamily="34" charset="0"/>
            </a:endParaRPr>
          </a:p>
          <a:p>
            <a:r>
              <a:rPr lang="en-US" sz="1600" dirty="0">
                <a:latin typeface="Franklin Gothic Book" panose="020B0503020102020204" pitchFamily="34" charset="0"/>
              </a:rPr>
              <a:t>If an alternative message presents asking you to install packages, instead type “</a:t>
            </a:r>
            <a:r>
              <a:rPr lang="en-US" sz="1600" b="1" dirty="0" err="1">
                <a:latin typeface="Franklin Gothic Book" panose="020B0503020102020204" pitchFamily="34" charset="0"/>
              </a:rPr>
              <a:t>renv</a:t>
            </a:r>
            <a:r>
              <a:rPr lang="en-US" sz="1600" b="1" dirty="0">
                <a:latin typeface="Aptos" panose="020B0004020202020204" pitchFamily="34" charset="0"/>
              </a:rPr>
              <a:t>::</a:t>
            </a:r>
            <a:r>
              <a:rPr lang="en-US" sz="1600" b="1" dirty="0">
                <a:latin typeface="Franklin Gothic Book" panose="020B0503020102020204" pitchFamily="34" charset="0"/>
              </a:rPr>
              <a:t>restore()</a:t>
            </a:r>
            <a:r>
              <a:rPr lang="en-US" sz="1600" dirty="0">
                <a:latin typeface="Franklin Gothic Book" panose="020B0503020102020204" pitchFamily="34" charset="0"/>
              </a:rPr>
              <a:t>” and hit Enter. Enter “</a:t>
            </a:r>
            <a:r>
              <a:rPr lang="en-US" sz="1600" b="1" dirty="0">
                <a:latin typeface="Franklin Gothic Book" panose="020B0503020102020204" pitchFamily="34" charset="0"/>
              </a:rPr>
              <a:t>Y</a:t>
            </a:r>
            <a:r>
              <a:rPr lang="en-US" sz="1600" dirty="0">
                <a:latin typeface="Franklin Gothic Book" panose="020B0503020102020204" pitchFamily="34" charset="0"/>
              </a:rPr>
              <a:t>” when prompted. Once complete you can try “</a:t>
            </a:r>
            <a:r>
              <a:rPr lang="en-US" sz="1600" b="1" dirty="0" err="1">
                <a:latin typeface="Franklin Gothic Book" panose="020B0503020102020204" pitchFamily="34" charset="0"/>
              </a:rPr>
              <a:t>renv</a:t>
            </a:r>
            <a:r>
              <a:rPr lang="en-US" sz="1600" b="1" dirty="0">
                <a:latin typeface="Aptos" panose="020B0004020202020204" pitchFamily="34" charset="0"/>
              </a:rPr>
              <a:t>::</a:t>
            </a:r>
            <a:r>
              <a:rPr lang="en-US" sz="1600" b="1" dirty="0">
                <a:latin typeface="Franklin Gothic Book" panose="020B0503020102020204" pitchFamily="34" charset="0"/>
              </a:rPr>
              <a:t>status()</a:t>
            </a:r>
            <a:r>
              <a:rPr lang="en-US" sz="1600" dirty="0">
                <a:latin typeface="Franklin Gothic Book" panose="020B0503020102020204" pitchFamily="34" charset="0"/>
              </a:rPr>
              <a:t>” again.</a:t>
            </a:r>
          </a:p>
          <a:p>
            <a:endParaRPr lang="en-US" sz="1600" b="1" dirty="0">
              <a:latin typeface="Franklin Gothic Book" panose="020B0503020102020204" pitchFamily="34" charset="0"/>
            </a:endParaRPr>
          </a:p>
          <a:p>
            <a:r>
              <a:rPr lang="en-US" sz="1600" dirty="0">
                <a:latin typeface="Franklin Gothic Book" panose="020B0503020102020204" pitchFamily="34" charset="0"/>
              </a:rPr>
              <a:t>Once that is complete, open </a:t>
            </a:r>
            <a:r>
              <a:rPr lang="en-US" sz="1600" b="1" dirty="0">
                <a:latin typeface="Franklin Gothic Book" panose="020B0503020102020204" pitchFamily="34" charset="0"/>
              </a:rPr>
              <a:t>“</a:t>
            </a:r>
            <a:r>
              <a:rPr lang="en-US" sz="1600" b="1" dirty="0">
                <a:highlight>
                  <a:srgbClr val="FFFF00"/>
                </a:highlight>
                <a:latin typeface="Franklin Gothic Book" panose="020B0503020102020204" pitchFamily="34" charset="0"/>
              </a:rPr>
              <a:t>PLACEHOLDER.R</a:t>
            </a:r>
            <a:r>
              <a:rPr lang="en-US" sz="1600" dirty="0">
                <a:latin typeface="Franklin Gothic Book" panose="020B0503020102020204" pitchFamily="34" charset="0"/>
              </a:rPr>
              <a:t>” from the </a:t>
            </a:r>
            <a:r>
              <a:rPr lang="en-US" sz="1600" b="1" dirty="0">
                <a:latin typeface="Franklin Gothic Book" panose="020B0503020102020204" pitchFamily="34" charset="0"/>
              </a:rPr>
              <a:t>Files</a:t>
            </a:r>
            <a:r>
              <a:rPr lang="en-US" sz="1600" dirty="0">
                <a:latin typeface="Franklin Gothic Book" panose="020B0503020102020204" pitchFamily="34" charset="0"/>
              </a:rPr>
              <a:t> tab. Your screen should look similar to what is on screen. </a:t>
            </a:r>
            <a:endParaRPr lang="en-GB" sz="1600" b="1" dirty="0">
              <a:latin typeface="Franklin Gothic Book" panose="020B05030201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9FDA36-026F-2FA5-7506-F8A4E4602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443" y="1063256"/>
            <a:ext cx="6626480" cy="527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65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F39EF-4D97-BBE2-9ABA-023ECB5B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0842BC-3636-4913-872A-D0B50B102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34" y="482879"/>
            <a:ext cx="4314419" cy="7998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87F89B-C229-0394-EF29-1394236A9A51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28871" b="8972"/>
          <a:stretch/>
        </p:blipFill>
        <p:spPr>
          <a:xfrm>
            <a:off x="9933704" y="5146200"/>
            <a:ext cx="2258296" cy="1715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5E14C1-AAF5-28B3-E4AE-84FF4C9015A4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t="4243"/>
          <a:stretch/>
        </p:blipFill>
        <p:spPr>
          <a:xfrm>
            <a:off x="9933704" y="3430800"/>
            <a:ext cx="2258296" cy="1715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E7002D-D224-A70E-DF1F-2DA1AEC81948}"/>
              </a:ext>
            </a:extLst>
          </p:cNvPr>
          <p:cNvPicPr>
            <a:picLocks/>
          </p:cNvPicPr>
          <p:nvPr/>
        </p:nvPicPr>
        <p:blipFill rotWithShape="1">
          <a:blip r:embed="rId5"/>
          <a:srcRect l="13247"/>
          <a:stretch/>
        </p:blipFill>
        <p:spPr>
          <a:xfrm>
            <a:off x="9933704" y="1715400"/>
            <a:ext cx="2258296" cy="1715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3C5E53-B5AE-80CD-06F0-42272CB43B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0477" t="5882"/>
          <a:stretch/>
        </p:blipFill>
        <p:spPr>
          <a:xfrm>
            <a:off x="9934811" y="0"/>
            <a:ext cx="2257189" cy="1715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B2BC257-7F07-82E8-3CFF-47F14152BFF8}"/>
              </a:ext>
            </a:extLst>
          </p:cNvPr>
          <p:cNvSpPr/>
          <p:nvPr/>
        </p:nvSpPr>
        <p:spPr>
          <a:xfrm rot="5400000">
            <a:off x="6535847" y="3330528"/>
            <a:ext cx="6858000" cy="196943"/>
          </a:xfrm>
          <a:prstGeom prst="rect">
            <a:avLst/>
          </a:prstGeom>
          <a:solidFill>
            <a:srgbClr val="CA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042BB-99D1-0470-F531-8C78CF16BFEA}"/>
              </a:ext>
            </a:extLst>
          </p:cNvPr>
          <p:cNvSpPr txBox="1"/>
          <p:nvPr/>
        </p:nvSpPr>
        <p:spPr>
          <a:xfrm>
            <a:off x="633934" y="1715400"/>
            <a:ext cx="745632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5C"/>
                </a:solidFill>
                <a:latin typeface="Franklin Gothic Demi" panose="020B0603020102020204" pitchFamily="34" charset="0"/>
              </a:rPr>
              <a:t>Future Developments</a:t>
            </a:r>
          </a:p>
          <a:p>
            <a:endParaRPr lang="en-US" sz="1400" b="1" dirty="0">
              <a:solidFill>
                <a:srgbClr val="00205C"/>
              </a:solidFill>
              <a:latin typeface="Franklin Gothic Demi" panose="020B0603020102020204" pitchFamily="34" charset="0"/>
            </a:endParaRPr>
          </a:p>
          <a:p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Resources on </a:t>
            </a:r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  <a:hlinkClick r:id="rId7"/>
              </a:rPr>
              <a:t>TM-DOF-NISRATEAM</a:t>
            </a:r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 Staff Training Page – Links to Online Training tab</a:t>
            </a:r>
          </a:p>
          <a:p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RAP Pages on </a:t>
            </a:r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  <a:hlinkClick r:id="rId8"/>
              </a:rPr>
              <a:t>TM-DOF-NISRATEAM</a:t>
            </a:r>
            <a:endParaRPr lang="en-US" sz="16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endParaRPr lang="en-US" sz="16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Development of </a:t>
            </a:r>
            <a:r>
              <a:rPr lang="en-US" sz="1600" dirty="0" err="1">
                <a:solidFill>
                  <a:srgbClr val="00205C"/>
                </a:solidFill>
                <a:latin typeface="Franklin Gothic Book" panose="020B0503020102020204" pitchFamily="34" charset="0"/>
              </a:rPr>
              <a:t>Tidyverse</a:t>
            </a:r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majority of data work in NISRA can be done with these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Use of </a:t>
            </a:r>
            <a:r>
              <a:rPr lang="en-US" sz="1600" dirty="0" err="1">
                <a:solidFill>
                  <a:srgbClr val="00205C"/>
                </a:solidFill>
                <a:latin typeface="Franklin Gothic Book" panose="020B0503020102020204" pitchFamily="34" charset="0"/>
              </a:rPr>
              <a:t>Rmarkdown</a:t>
            </a:r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/Quarto to create HTML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  <a:hlinkClick r:id="rId9"/>
              </a:rPr>
              <a:t>Tech Lab RAP Skeleton</a:t>
            </a:r>
            <a:endParaRPr lang="en-US" sz="16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  <a:hlinkClick r:id="rId10"/>
              </a:rPr>
              <a:t>Tech Lab RAP Skeleton Lite</a:t>
            </a:r>
            <a:endParaRPr lang="en-US" sz="16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Coffee and Coding sessions on Intro to </a:t>
            </a:r>
            <a:r>
              <a:rPr lang="en-US" sz="1600" dirty="0" err="1">
                <a:solidFill>
                  <a:srgbClr val="00205C"/>
                </a:solidFill>
                <a:latin typeface="Franklin Gothic Book" panose="020B0503020102020204" pitchFamily="34" charset="0"/>
              </a:rPr>
              <a:t>RMarkdown</a:t>
            </a:r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 in NISRA, RAP Skeleton and RAP Skeleton Lite</a:t>
            </a:r>
          </a:p>
          <a:p>
            <a:endParaRPr lang="en-US" sz="16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Git and </a:t>
            </a:r>
            <a:r>
              <a:rPr lang="en-US" sz="1600" dirty="0" err="1">
                <a:solidFill>
                  <a:srgbClr val="00205C"/>
                </a:solidFill>
                <a:latin typeface="Franklin Gothic Book" panose="020B0503020102020204" pitchFamily="34" charset="0"/>
              </a:rPr>
              <a:t>Github</a:t>
            </a:r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 for code versioning – coffee and coding sessions available</a:t>
            </a:r>
          </a:p>
          <a:p>
            <a:endParaRPr lang="en-US" sz="16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r>
              <a:rPr lang="en-US" sz="16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R forum – contact BSDB (Kim Jordan or </a:t>
            </a:r>
            <a:r>
              <a:rPr lang="en-US" sz="1600">
                <a:solidFill>
                  <a:srgbClr val="00205C"/>
                </a:solidFill>
                <a:latin typeface="Franklin Gothic Book" panose="020B0503020102020204" pitchFamily="34" charset="0"/>
              </a:rPr>
              <a:t>Laura McIlwee)</a:t>
            </a:r>
            <a:endParaRPr lang="en-US" sz="16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endParaRPr lang="en-US" sz="14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endParaRPr lang="en-US" sz="14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37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D0CC9-7C4B-B1AA-6CF3-B96D5B160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F0735C-CD78-B07B-D550-A1294DF19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34" y="482879"/>
            <a:ext cx="4314419" cy="7998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E3BDB1-C4E3-36C2-4D62-01D9D11A7BDE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28871" b="8972"/>
          <a:stretch/>
        </p:blipFill>
        <p:spPr>
          <a:xfrm>
            <a:off x="9933704" y="5146200"/>
            <a:ext cx="2258296" cy="1715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3D81AC-05C5-3720-6547-13D1B7494869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t="4243"/>
          <a:stretch/>
        </p:blipFill>
        <p:spPr>
          <a:xfrm>
            <a:off x="9933704" y="3430800"/>
            <a:ext cx="2258296" cy="1715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1F1507-9639-FAE1-4AD9-8C8C6F42B48D}"/>
              </a:ext>
            </a:extLst>
          </p:cNvPr>
          <p:cNvPicPr>
            <a:picLocks/>
          </p:cNvPicPr>
          <p:nvPr/>
        </p:nvPicPr>
        <p:blipFill rotWithShape="1">
          <a:blip r:embed="rId5"/>
          <a:srcRect l="13247"/>
          <a:stretch/>
        </p:blipFill>
        <p:spPr>
          <a:xfrm>
            <a:off x="9933704" y="1715400"/>
            <a:ext cx="2258296" cy="1715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5B8FAE-8AB5-1EDF-EA0E-FB41F0AD98E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0477" t="5882"/>
          <a:stretch/>
        </p:blipFill>
        <p:spPr>
          <a:xfrm>
            <a:off x="9934811" y="0"/>
            <a:ext cx="2257189" cy="1715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B1141CA-BAF4-0D89-8910-815B76BE85C8}"/>
              </a:ext>
            </a:extLst>
          </p:cNvPr>
          <p:cNvSpPr/>
          <p:nvPr/>
        </p:nvSpPr>
        <p:spPr>
          <a:xfrm rot="5400000">
            <a:off x="6535847" y="3330528"/>
            <a:ext cx="6858000" cy="196943"/>
          </a:xfrm>
          <a:prstGeom prst="rect">
            <a:avLst/>
          </a:prstGeom>
          <a:solidFill>
            <a:srgbClr val="CA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87740A-721D-2396-653A-CD9E601D018C}"/>
              </a:ext>
            </a:extLst>
          </p:cNvPr>
          <p:cNvSpPr txBox="1"/>
          <p:nvPr/>
        </p:nvSpPr>
        <p:spPr>
          <a:xfrm>
            <a:off x="633934" y="1715400"/>
            <a:ext cx="745632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5C"/>
                </a:solidFill>
                <a:latin typeface="Franklin Gothic Demi" panose="020B0603020102020204" pitchFamily="34" charset="0"/>
              </a:rPr>
              <a:t>Feedback</a:t>
            </a:r>
          </a:p>
          <a:p>
            <a:endParaRPr lang="en-US" sz="1400" b="1" dirty="0">
              <a:solidFill>
                <a:srgbClr val="00205C"/>
              </a:solidFill>
              <a:latin typeface="Franklin Gothic Demi" panose="020B0603020102020204" pitchFamily="34" charset="0"/>
            </a:endParaRPr>
          </a:p>
          <a:p>
            <a:r>
              <a:rPr lang="en-US" sz="1400" dirty="0">
                <a:solidFill>
                  <a:srgbClr val="00205C"/>
                </a:solidFill>
                <a:latin typeface="Franklin Gothic Book" panose="020B0503020102020204" pitchFamily="34" charset="0"/>
              </a:rPr>
              <a:t>Short 2 question survey – all feedback welcome to help improve this course</a:t>
            </a:r>
          </a:p>
          <a:p>
            <a:endParaRPr lang="en-US" b="1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r>
              <a:rPr lang="en-US" b="1" dirty="0">
                <a:solidFill>
                  <a:srgbClr val="00205C"/>
                </a:solidFill>
                <a:latin typeface="Franklin Gothic Book" panose="020B0503020102020204" pitchFamily="34" charset="0"/>
                <a:hlinkClick r:id="rId7"/>
              </a:rPr>
              <a:t>https://dttselfserve.nidirect.gov.uk/NISRA/rateit#/Coffee_and_Coding_sessions</a:t>
            </a:r>
            <a:endParaRPr lang="en-US" b="1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endParaRPr lang="en-US" sz="14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  <a:p>
            <a:endParaRPr lang="en-US" sz="1400" dirty="0">
              <a:solidFill>
                <a:srgbClr val="00205C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25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489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Franklin Gothic Book</vt:lpstr>
      <vt:lpstr>Franklin Gothic Demi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Hamilton, Kyle</dc:creator>
  <cp:lastModifiedBy>Hamilton, Kyle</cp:lastModifiedBy>
  <cp:revision>12</cp:revision>
  <dcterms:created xsi:type="dcterms:W3CDTF">2025-05-21T12:12:55Z</dcterms:created>
  <dcterms:modified xsi:type="dcterms:W3CDTF">2026-07-15T15:21:14Z</dcterms:modified>
</cp:coreProperties>
</file>