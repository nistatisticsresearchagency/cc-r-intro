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64" r:id="rId6"/>
    <p:sldId id="259" r:id="rId7"/>
    <p:sldId id="260" r:id="rId8"/>
    <p:sldId id="261" r:id="rId9"/>
    <p:sldId id="262" r:id="rId10"/>
    <p:sldId id="258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14" y="9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92366-4CC6-B4F5-8E6E-D29803F182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96129-8FEA-9554-1939-388F00927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1640F-AF77-D96F-ED31-1D1D61132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A2B46-3CF2-E974-0082-4150A7F5B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73908-95BE-74BF-F561-40EE93C4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1529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6213-123A-BA0B-7ADC-98A7F0261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B0BC1-5688-AFA3-99F2-E3B5121951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5A567-FF2B-D390-02EA-E47D6DB32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2C6CF-1192-3D6D-3D87-538CF300C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5CC92-0958-39E5-76C5-35D81F6F9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5157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FD795-D376-4FED-B6AD-133FF96F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3FBEE-78EE-2774-8297-39DB34174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14E2A-01DC-0BA7-5FE3-3AA05BD52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9A53B-3D0C-F842-8C5C-6890B97FD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BB6B4-167B-09F0-0C32-56E84212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822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D8EF9-1F00-966A-BA7F-9F675AAA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B0187-A196-300F-3AA1-FBD52F0EB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7F4ECA-932D-5BB4-7B67-34BA22E30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17688F-2205-977A-EA06-E84A81739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BBD1C-ADCF-9B86-81AF-5A8888FE3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AF642F-4230-8A89-6828-47CEEE2C0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1884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2E82-E77C-24FD-6483-B894D3AA9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2F722-F514-B50E-952B-780B429BB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7F4C9-2769-C898-228E-86A084FE0D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51CB75-8469-F6C8-9D79-E553D3E6CC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C676AC-5DA8-A6B3-0F6B-835DD1DCBB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1D1594-1D37-2278-D058-9FBFEBF93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CF3F43-B56B-AA39-9373-8BF3EB6C0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C10DF3-EC0D-B247-3A77-409D94985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72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9D4D-1569-6340-F291-E6ED628E1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3AB6A7-26C7-DC59-A922-EEDFEF346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CA6D2-23E5-0B44-0664-8DF42583F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D5668-F1AA-BBC9-C997-2C6666902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370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78DA57-D21B-C237-B68E-6371957E7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1FF5F1-C0D5-F169-B5F7-F76A13DF7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8D2C2-D30E-2E0F-5094-1D61C3A94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5094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22D26-C745-6A28-CD3C-31048B4CA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759C8-F569-A6C8-18C1-A225A2832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EF97C-0587-0DBA-4384-C7253F46B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A2BCA-00A2-38C7-C45B-9EFC4296D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FF5AB4-53E0-A46C-8811-31591096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BBBF9-51F5-0E45-4986-418E72694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918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30C3-BBB0-7CF8-D82F-347C7FA5D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74325F-BA9E-DF07-5190-13DE53F44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86F093-B022-EBE3-6366-B8616C138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E41CB2-F812-8EBF-C400-F597B851F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419A9-4E8F-EAB6-892A-31BA1CC5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C8730-74F7-37AD-3863-9D6B7DA8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066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6906-1DB8-4D46-A675-0362FEDF7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912B7-A2B7-8D46-9451-7F5DB29D8A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6EF0F-287E-B141-8703-A6BEDC28D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E5B50-5633-B433-F15F-3DF9F8AB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60834-CCBC-13F8-96A3-8392F2BCA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576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3F0339-6A17-24F7-D71D-C1811DEAB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E1442E-AA16-B352-6FCD-EBD6F2641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3899D-554A-C89F-0B7D-27BD036D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5AFA5-C1F0-19E6-5966-776FB3873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2BAA85-D610-723D-B33B-81499EA5C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073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7FFAB-68B2-3365-924F-67DADAA97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882C3C-F01F-3C7C-5B6F-6AA173BC9A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A4004-F02C-EDE9-5092-1C93EDC7E1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0AE69-97A3-418C-8011-56A60D6D4432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8FFCB-79B5-1D09-1F7E-5554473B8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227F0-40E1-B256-1073-DFCE00B1EA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225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teams.microsoft.com/l/channel/19%3A1b84fe785d0545cd93c4e23c76ea64ba%40thread.tacv2/RAP?groupId=aae45d96-55b6-40f0-82cc-854f4ce0b623&amp;tenantId=e7a13aea-9437-4db7-a22b-cfaa4ce33b6e" TargetMode="External"/><Relationship Id="rId13" Type="http://schemas.openxmlformats.org/officeDocument/2006/relationships/hyperlink" Target="https://github.com/NISRA-Tech-Lab/rap-skeleton-lite" TargetMode="External"/><Relationship Id="rId3" Type="http://schemas.openxmlformats.org/officeDocument/2006/relationships/image" Target="../media/image3.jpg"/><Relationship Id="rId7" Type="http://schemas.openxmlformats.org/officeDocument/2006/relationships/hyperlink" Target="https://teams.microsoft.com/l/entity/0ae35b36-0fd7-422e-805b-d53af1579093/_djb2_msteams_prefix_808832703?context=%7B%22channelId%22%3A%2219%3A6cc3c14d1d03438a991be5dae79bce0b%40thread.tacv2%22%7D&amp;tenantId=e7a13aea-9437-4db7-a22b-cfaa4ce33b6e" TargetMode="External"/><Relationship Id="rId12" Type="http://schemas.openxmlformats.org/officeDocument/2006/relationships/hyperlink" Target="https://github.com/NISRA-Tech-Lab/rap-skeleton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11" Type="http://schemas.openxmlformats.org/officeDocument/2006/relationships/hyperlink" Target="https://tidyverse.org/" TargetMode="External"/><Relationship Id="rId5" Type="http://schemas.openxmlformats.org/officeDocument/2006/relationships/image" Target="../media/image1.jpg"/><Relationship Id="rId10" Type="http://schemas.openxmlformats.org/officeDocument/2006/relationships/hyperlink" Target="https://nicsonline.sharepoint.com/:f:/s/TM-DOF-NISRATEAM/IgAVoGVDsWZ7Q4yJ2Mm1U1YCAWK7msPIvkfi37TaSn-U-sg?e=PTkjKO" TargetMode="External"/><Relationship Id="rId4" Type="http://schemas.openxmlformats.org/officeDocument/2006/relationships/image" Target="../media/image2.jpg"/><Relationship Id="rId9" Type="http://schemas.openxmlformats.org/officeDocument/2006/relationships/hyperlink" Target="https://teams.microsoft.com/l/entity/2a527703-1f6f-4559-a332-d8a7d288cd88/_djb2_msteams_prefix_2053460274?context=%7B%22channelId%22%3A%2219%3A1b84fe785d0545cd93c4e23c76ea64ba%40thread.tacv2%22%7D&amp;tenantId=e7a13aea-9437-4db7-a22b-cfaa4ce33b6e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hyperlink" Target="https://dttselfserve.nidirect.gov.uk/NISRA/rateit#/Coffee_and_Coding_sessions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5EC964E-9E4F-F5B3-0200-B4C17C753EA1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07D184-5F27-694B-A4D7-7EC20FE79E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0AAE01-C1FE-17C7-17B5-AA84A3A30B16}"/>
              </a:ext>
            </a:extLst>
          </p:cNvPr>
          <p:cNvSpPr txBox="1"/>
          <p:nvPr/>
        </p:nvSpPr>
        <p:spPr>
          <a:xfrm>
            <a:off x="633933" y="1535430"/>
            <a:ext cx="90170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00205C"/>
                </a:solidFill>
                <a:latin typeface="Franklin Gothic Demi" panose="020B0603020102020204" pitchFamily="34" charset="0"/>
              </a:rPr>
              <a:t>An introduction to R in NISRA</a:t>
            </a:r>
          </a:p>
          <a:p>
            <a:endParaRPr lang="en-US" sz="12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Coffee and Coding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1089EB-5D11-CF46-1EE6-F30966460C77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417460-079D-CCFF-AD35-A9813B5D000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7A4181-933F-86A3-EF95-A6BDBCB7B2A4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995C88-FC0A-3758-865B-7B0E40F26B78}"/>
              </a:ext>
            </a:extLst>
          </p:cNvPr>
          <p:cNvSpPr txBox="1"/>
          <p:nvPr/>
        </p:nvSpPr>
        <p:spPr>
          <a:xfrm>
            <a:off x="768095" y="5666850"/>
            <a:ext cx="2724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Trusted statistics and research for a better society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B2A39D-F750-60F7-1C96-CFC02404F3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9934" y="5793588"/>
            <a:ext cx="2191012" cy="4206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5E4FE5-2AE2-7B09-B51A-C958012E8A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128" y="5793588"/>
            <a:ext cx="959623" cy="7437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DB8814A-54D6-A1F8-1175-B9644D5C517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1302" y="5793588"/>
            <a:ext cx="2121650" cy="74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764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A17B4-2829-C04E-C2D1-8E81EB68F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AFCA03C-9D10-429C-ABAB-C2683D895B0D}"/>
              </a:ext>
            </a:extLst>
          </p:cNvPr>
          <p:cNvSpPr txBox="1"/>
          <p:nvPr/>
        </p:nvSpPr>
        <p:spPr>
          <a:xfrm>
            <a:off x="7253393" y="1792230"/>
            <a:ext cx="455224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0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GB" sz="20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GB" sz="20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GB" sz="2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Toilets</a:t>
            </a:r>
          </a:p>
          <a:p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FD7CE9-5368-226C-DF4C-726D0075A55D}"/>
              </a:ext>
            </a:extLst>
          </p:cNvPr>
          <p:cNvSpPr txBox="1"/>
          <p:nvPr/>
        </p:nvSpPr>
        <p:spPr>
          <a:xfrm>
            <a:off x="633934" y="1739476"/>
            <a:ext cx="53548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dirty="0">
                <a:solidFill>
                  <a:srgbClr val="00205C"/>
                </a:solidFill>
                <a:latin typeface="Franklin Gothic Demi" panose="020B0603020102020204" pitchFamily="34" charset="0"/>
              </a:rPr>
              <a:t>Housekeeping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16EF0D-FEAE-5EC0-48C4-D41BF36C6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CC03FB9-4566-5A61-7F4D-33B65A0604F2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Clock outline">
            <a:extLst>
              <a:ext uri="{FF2B5EF4-FFF2-40B4-BE49-F238E27FC236}">
                <a16:creationId xmlns:a16="http://schemas.microsoft.com/office/drawing/2014/main" id="{EDA1719C-E93E-F3DE-13E7-9FDE939923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77395" y="2498355"/>
            <a:ext cx="1341916" cy="1341916"/>
          </a:xfrm>
          <a:prstGeom prst="rect">
            <a:avLst/>
          </a:prstGeom>
        </p:spPr>
      </p:pic>
      <p:pic>
        <p:nvPicPr>
          <p:cNvPr id="9" name="Graphic 8" descr="Latte Cup with solid fill">
            <a:extLst>
              <a:ext uri="{FF2B5EF4-FFF2-40B4-BE49-F238E27FC236}">
                <a16:creationId xmlns:a16="http://schemas.microsoft.com/office/drawing/2014/main" id="{98B662A9-157E-C11D-26C4-8B1F20D897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77395" y="4599150"/>
            <a:ext cx="1341916" cy="1341916"/>
          </a:xfrm>
          <a:prstGeom prst="rect">
            <a:avLst/>
          </a:prstGeom>
        </p:spPr>
      </p:pic>
      <p:pic>
        <p:nvPicPr>
          <p:cNvPr id="11" name="Graphic 10" descr="Toilet outline">
            <a:extLst>
              <a:ext uri="{FF2B5EF4-FFF2-40B4-BE49-F238E27FC236}">
                <a16:creationId xmlns:a16="http://schemas.microsoft.com/office/drawing/2014/main" id="{69687160-0936-4BF1-8826-31B38843B4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02844" y="2137178"/>
            <a:ext cx="1453337" cy="14533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E72809E-1B97-3748-B7C2-26A4E2E25DF1}"/>
              </a:ext>
            </a:extLst>
          </p:cNvPr>
          <p:cNvSpPr txBox="1"/>
          <p:nvPr/>
        </p:nvSpPr>
        <p:spPr>
          <a:xfrm>
            <a:off x="633934" y="4976413"/>
            <a:ext cx="35370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Tea/Coffee/Water</a:t>
            </a:r>
          </a:p>
          <a:p>
            <a:endParaRPr lang="en-GB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8692DB-60D8-9068-4DC9-7F8C7226F0D1}"/>
              </a:ext>
            </a:extLst>
          </p:cNvPr>
          <p:cNvSpPr txBox="1"/>
          <p:nvPr/>
        </p:nvSpPr>
        <p:spPr>
          <a:xfrm>
            <a:off x="633934" y="2638615"/>
            <a:ext cx="3465793" cy="1456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2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90 minute session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2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10 minute comfort break</a:t>
            </a:r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70203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B56F6-3BBE-287C-815B-3C670BFAA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541679E-2555-8A09-EF90-C8B293DB0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D54318C-73D1-9BE9-7659-A034F3C82331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3B6A39-A114-377F-AFFC-790A33227EAA}"/>
              </a:ext>
            </a:extLst>
          </p:cNvPr>
          <p:cNvSpPr txBox="1"/>
          <p:nvPr/>
        </p:nvSpPr>
        <p:spPr>
          <a:xfrm>
            <a:off x="627014" y="1739476"/>
            <a:ext cx="10868299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dirty="0">
                <a:solidFill>
                  <a:srgbClr val="00205C"/>
                </a:solidFill>
                <a:latin typeface="Franklin Gothic Demi" panose="020B0603020102020204" pitchFamily="34" charset="0"/>
              </a:rPr>
              <a:t>Overview of sessions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This introductory set of sessions is delivered in 2 parts (A and B)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It is assumed you have attended Part A when attending Part B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If you missed Part A, it is advised that you wait until the next month for a spot on that session, before booking into Part B</a:t>
            </a: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endParaRPr lang="en-GB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Outside of the above, this is a course designed for absolute beginners in R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endParaRPr lang="en-GB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In Part A we cover: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 Types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 Structures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Packages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 Processing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69826B-E06D-6641-3EDA-794818D53FF7}"/>
              </a:ext>
            </a:extLst>
          </p:cNvPr>
          <p:cNvSpPr txBox="1"/>
          <p:nvPr/>
        </p:nvSpPr>
        <p:spPr>
          <a:xfrm>
            <a:off x="3120327" y="4468208"/>
            <a:ext cx="343814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1020"/>
              </a:spcAft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In Part B we cover:</a:t>
            </a:r>
            <a:endParaRPr lang="en-GB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 Summarisation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Else/if &amp; Case when logic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Dataset joins 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Pivoting data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Charts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173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CC377-2686-E875-7BA4-FDE886A03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1AF9DD2-4B7A-D56F-58EE-96DB27AB8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BE73ED2-E3B6-0DBD-1CDD-D4037B8EBAA8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65C05-9C2E-6EF4-7403-DA40BDCC70FA}"/>
              </a:ext>
            </a:extLst>
          </p:cNvPr>
          <p:cNvSpPr txBox="1"/>
          <p:nvPr/>
        </p:nvSpPr>
        <p:spPr>
          <a:xfrm>
            <a:off x="2791144" y="2007235"/>
            <a:ext cx="614384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60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Name</a:t>
            </a:r>
            <a:endParaRPr lang="en-GB" sz="60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E8EE9F-4415-37EC-A7DC-ECC8C6BCEE7F}"/>
              </a:ext>
            </a:extLst>
          </p:cNvPr>
          <p:cNvSpPr txBox="1"/>
          <p:nvPr/>
        </p:nvSpPr>
        <p:spPr>
          <a:xfrm>
            <a:off x="2791143" y="3522303"/>
            <a:ext cx="61438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60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Work area</a:t>
            </a:r>
            <a:endParaRPr lang="en-GB" sz="60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06BA0D-9A75-1E40-959B-BCB27B7AC11F}"/>
              </a:ext>
            </a:extLst>
          </p:cNvPr>
          <p:cNvSpPr txBox="1"/>
          <p:nvPr/>
        </p:nvSpPr>
        <p:spPr>
          <a:xfrm>
            <a:off x="2791144" y="5037372"/>
            <a:ext cx="61438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60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Experience with R</a:t>
            </a:r>
            <a:endParaRPr lang="en-GB" sz="60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0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F49D3-41E2-98C3-0754-51D6D778D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4EBF899-CD0E-BFA2-6D3E-63D31E37E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71B7551-AD05-03CB-F1E3-7779C02F477F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DD29B2-FF87-E578-E872-CE5CDB07A32E}"/>
              </a:ext>
            </a:extLst>
          </p:cNvPr>
          <p:cNvSpPr txBox="1"/>
          <p:nvPr/>
        </p:nvSpPr>
        <p:spPr>
          <a:xfrm>
            <a:off x="627015" y="1739476"/>
            <a:ext cx="8961120" cy="4819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Why R?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Free and Open Source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Large support community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Highly flexible and extensible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endParaRPr lang="en-GB" sz="105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NISRA direction is to use R as a default – consistency across agency and cost savings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endParaRPr lang="en-GB" sz="105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Not just a pure statistics software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Everything you would expect from a stats package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Great chart and mapping options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Digital document creation (HTML/PDF etc.)</a:t>
            </a: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endParaRPr lang="en-GB" sz="105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Analysis that is transparent, easy to share and with high levels of reproducibility</a:t>
            </a:r>
            <a:endParaRPr lang="en-GB" sz="11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7770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45214-2985-BE4F-9750-CC1188081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A1A58E-9E32-B5C5-3C8E-92E4BE72F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998BF47-6165-CE01-D7B1-2E2A6BFABB5C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61C740-3081-CC6B-F98A-B909BFF80DE3}"/>
              </a:ext>
            </a:extLst>
          </p:cNvPr>
          <p:cNvSpPr txBox="1"/>
          <p:nvPr/>
        </p:nvSpPr>
        <p:spPr>
          <a:xfrm>
            <a:off x="627015" y="1739476"/>
            <a:ext cx="8961120" cy="1328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vs R Studio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a software with different versions available e.g. v4.2.1, v4.4.0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Rstudio</a:t>
            </a: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is a development environment (IDE) that is made for R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EFC54F-7BB7-8048-69F6-4FE072367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29" y="3251433"/>
            <a:ext cx="4924508" cy="3253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74431-DC49-289D-BC73-B837BE9DE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265" y="3251433"/>
            <a:ext cx="4924508" cy="3253997"/>
          </a:xfrm>
          <a:prstGeom prst="rect">
            <a:avLst/>
          </a:prstGeom>
          <a:ln w="25400">
            <a:solidFill>
              <a:schemeClr val="bg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CDCD36-5DAF-5C81-D421-802E2E80B96C}"/>
              </a:ext>
            </a:extLst>
          </p:cNvPr>
          <p:cNvSpPr txBox="1"/>
          <p:nvPr/>
        </p:nvSpPr>
        <p:spPr>
          <a:xfrm>
            <a:off x="3423425" y="5391912"/>
            <a:ext cx="2057878" cy="369332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RGui</a:t>
            </a:r>
            <a:r>
              <a:rPr lang="en-US" b="1" dirty="0"/>
              <a:t> (Standard R)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20534-4378-0310-2B5D-ABBAD5E20C05}"/>
              </a:ext>
            </a:extLst>
          </p:cNvPr>
          <p:cNvSpPr txBox="1"/>
          <p:nvPr/>
        </p:nvSpPr>
        <p:spPr>
          <a:xfrm>
            <a:off x="9382146" y="539191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RStudio</a:t>
            </a:r>
            <a:endParaRPr lang="en-GB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322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066EF-0B3E-D29E-476A-EC8D333D8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9B9910-431D-BE86-89E3-4746363B5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AB0D266-4E28-EA7A-AF66-26DE8C997392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55E7E1-1155-11CA-D672-2EC11C7B7DE1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DE7D5F-59A3-E40D-3254-D28867987533}"/>
              </a:ext>
            </a:extLst>
          </p:cNvPr>
          <p:cNvSpPr txBox="1"/>
          <p:nvPr/>
        </p:nvSpPr>
        <p:spPr>
          <a:xfrm>
            <a:off x="1054596" y="1917680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Scripting Pane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9554A9-9F2C-AB59-BD3B-1BC78B52D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6571" y="773748"/>
            <a:ext cx="7688639" cy="58029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F9F07C-094A-81D7-2329-DBEABE922FF7}"/>
              </a:ext>
            </a:extLst>
          </p:cNvPr>
          <p:cNvSpPr txBox="1"/>
          <p:nvPr/>
        </p:nvSpPr>
        <p:spPr>
          <a:xfrm>
            <a:off x="1054596" y="529145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Console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6C0943-9CFC-BC0E-1ECF-4495AC05F14A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037879" y="2102346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4018EB2A-084F-94F3-2ED1-17CB991DA1EF}"/>
              </a:ext>
            </a:extLst>
          </p:cNvPr>
          <p:cNvSpPr/>
          <p:nvPr/>
        </p:nvSpPr>
        <p:spPr>
          <a:xfrm>
            <a:off x="4002173" y="1282390"/>
            <a:ext cx="45719" cy="298852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B28DD4-F3F3-4EE8-160E-7BC0AD358E64}"/>
              </a:ext>
            </a:extLst>
          </p:cNvPr>
          <p:cNvSpPr/>
          <p:nvPr/>
        </p:nvSpPr>
        <p:spPr>
          <a:xfrm>
            <a:off x="9322420" y="1059304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79D86F4-3353-8520-DEC8-16C5F2A645F6}"/>
              </a:ext>
            </a:extLst>
          </p:cNvPr>
          <p:cNvSpPr/>
          <p:nvPr/>
        </p:nvSpPr>
        <p:spPr>
          <a:xfrm>
            <a:off x="9283391" y="3824995"/>
            <a:ext cx="442541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23CF93F-D267-8240-CC8E-2AABEDF18CB2}"/>
              </a:ext>
            </a:extLst>
          </p:cNvPr>
          <p:cNvSpPr/>
          <p:nvPr/>
        </p:nvSpPr>
        <p:spPr>
          <a:xfrm>
            <a:off x="11256498" y="907998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C81FBBA-8713-7A2A-4CB7-D10D413092E1}"/>
              </a:ext>
            </a:extLst>
          </p:cNvPr>
          <p:cNvCxnSpPr>
            <a:cxnSpLocks/>
          </p:cNvCxnSpPr>
          <p:nvPr/>
        </p:nvCxnSpPr>
        <p:spPr>
          <a:xfrm>
            <a:off x="3037879" y="5416799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BEC4CF30-D493-36BF-75A5-370231B20D2B}"/>
              </a:ext>
            </a:extLst>
          </p:cNvPr>
          <p:cNvSpPr/>
          <p:nvPr/>
        </p:nvSpPr>
        <p:spPr>
          <a:xfrm>
            <a:off x="4002173" y="4596843"/>
            <a:ext cx="45719" cy="197986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15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26" grpId="0" animBg="1"/>
      <p:bldP spid="27" grpId="0" animBg="1"/>
      <p:bldP spid="28" grpId="0" animBg="1"/>
      <p:bldP spid="3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10C49-E4D5-712B-E654-426C5A449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AB591E-6727-0D9D-F42A-966C355B8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CD115C2-F4A0-03D1-05AD-0C3C17C6F4B0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9D1FF-A755-9FBF-EC9A-4C4178C320D6}"/>
              </a:ext>
            </a:extLst>
          </p:cNvPr>
          <p:cNvSpPr txBox="1"/>
          <p:nvPr/>
        </p:nvSpPr>
        <p:spPr>
          <a:xfrm>
            <a:off x="235129" y="979778"/>
            <a:ext cx="8961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23ACFF-4203-D70B-47FF-26D4D876B162}"/>
              </a:ext>
            </a:extLst>
          </p:cNvPr>
          <p:cNvSpPr txBox="1"/>
          <p:nvPr/>
        </p:nvSpPr>
        <p:spPr>
          <a:xfrm>
            <a:off x="1206997" y="224898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History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CCB235-335E-CB27-0C48-708496434E22}"/>
              </a:ext>
            </a:extLst>
          </p:cNvPr>
          <p:cNvSpPr txBox="1"/>
          <p:nvPr/>
        </p:nvSpPr>
        <p:spPr>
          <a:xfrm>
            <a:off x="1206997" y="527157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Plots/Viewer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2081DD3-4CD9-15C3-60FC-CBA7F2862D79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190280" y="2433648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0503EA-6DA7-267B-0A3F-0B2ADD0D5348}"/>
              </a:ext>
            </a:extLst>
          </p:cNvPr>
          <p:cNvSpPr/>
          <p:nvPr/>
        </p:nvSpPr>
        <p:spPr>
          <a:xfrm>
            <a:off x="3644368" y="1196253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755233-2FAC-B429-17FB-D188EF7D8458}"/>
              </a:ext>
            </a:extLst>
          </p:cNvPr>
          <p:cNvCxnSpPr>
            <a:cxnSpLocks/>
          </p:cNvCxnSpPr>
          <p:nvPr/>
        </p:nvCxnSpPr>
        <p:spPr>
          <a:xfrm>
            <a:off x="3190280" y="5463182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066FFA3B-B4AD-92EC-9DCC-61EA89D2070E}"/>
              </a:ext>
            </a:extLst>
          </p:cNvPr>
          <p:cNvSpPr/>
          <p:nvPr/>
        </p:nvSpPr>
        <p:spPr>
          <a:xfrm>
            <a:off x="3644368" y="4008784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489917-2932-D303-8AD8-1121D5002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106" y="1126434"/>
            <a:ext cx="2424994" cy="55646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CAF92F7-E015-6928-B1A7-4F2227D946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552" y="1126435"/>
            <a:ext cx="2442005" cy="55646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C8EBE7D-3B33-E28E-5F74-1163DE83C6D4}"/>
              </a:ext>
            </a:extLst>
          </p:cNvPr>
          <p:cNvSpPr txBox="1"/>
          <p:nvPr/>
        </p:nvSpPr>
        <p:spPr>
          <a:xfrm>
            <a:off x="6942074" y="230200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Git integration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4EBCBA-1A13-711B-6386-826D20E39C03}"/>
              </a:ext>
            </a:extLst>
          </p:cNvPr>
          <p:cNvSpPr txBox="1"/>
          <p:nvPr/>
        </p:nvSpPr>
        <p:spPr>
          <a:xfrm>
            <a:off x="6942074" y="527821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 Help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E2C2020-F1A7-631D-AFAC-872A5A4BF1ED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925357" y="2486669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E9A8B137-7ED5-2237-0ED2-AEBE6EDF5BD3}"/>
              </a:ext>
            </a:extLst>
          </p:cNvPr>
          <p:cNvSpPr/>
          <p:nvPr/>
        </p:nvSpPr>
        <p:spPr>
          <a:xfrm>
            <a:off x="9299936" y="1209520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2F2A2C-145C-FDED-D61D-5DFD0619F9C3}"/>
              </a:ext>
            </a:extLst>
          </p:cNvPr>
          <p:cNvCxnSpPr>
            <a:cxnSpLocks/>
          </p:cNvCxnSpPr>
          <p:nvPr/>
        </p:nvCxnSpPr>
        <p:spPr>
          <a:xfrm>
            <a:off x="8925357" y="5469822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Left Bracket 20">
            <a:extLst>
              <a:ext uri="{FF2B5EF4-FFF2-40B4-BE49-F238E27FC236}">
                <a16:creationId xmlns:a16="http://schemas.microsoft.com/office/drawing/2014/main" id="{C023687F-A206-F0B9-AD12-85B2A6E1E169}"/>
              </a:ext>
            </a:extLst>
          </p:cNvPr>
          <p:cNvSpPr/>
          <p:nvPr/>
        </p:nvSpPr>
        <p:spPr>
          <a:xfrm>
            <a:off x="9299936" y="4035303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4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30" grpId="0" animBg="1"/>
      <p:bldP spid="13" grpId="0" animBg="1"/>
      <p:bldP spid="15" grpId="0" animBg="1"/>
      <p:bldP spid="19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07619-E6C6-1B78-3A4F-607874F42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AEA23F-AE9D-1AC3-B8A1-16213A76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193DCD4-6F12-25DB-59C8-D899A4CA5B47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4F125D-1196-DE23-C1E6-117ECA4F34A5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Workshop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7FCAE0-9E8B-B397-8BDE-B5C2F0B2017F}"/>
              </a:ext>
            </a:extLst>
          </p:cNvPr>
          <p:cNvSpPr txBox="1"/>
          <p:nvPr/>
        </p:nvSpPr>
        <p:spPr>
          <a:xfrm>
            <a:off x="235128" y="1609157"/>
            <a:ext cx="4426082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Franklin Gothic Book" panose="020B0503020102020204" pitchFamily="34" charset="0"/>
              </a:rPr>
              <a:t>Open ‘</a:t>
            </a:r>
            <a:r>
              <a:rPr lang="en-US" sz="1600" b="1" dirty="0">
                <a:latin typeface="Franklin Gothic Book" panose="020B0503020102020204" pitchFamily="34" charset="0"/>
              </a:rPr>
              <a:t>r-intro-coffee-</a:t>
            </a:r>
            <a:r>
              <a:rPr lang="en-US" sz="1600" b="1" dirty="0" err="1">
                <a:latin typeface="Franklin Gothic Book" panose="020B0503020102020204" pitchFamily="34" charset="0"/>
              </a:rPr>
              <a:t>coding.Rproj</a:t>
            </a:r>
            <a:r>
              <a:rPr lang="en-US" sz="1600" dirty="0">
                <a:latin typeface="Franklin Gothic Book" panose="020B0503020102020204" pitchFamily="34" charset="0"/>
              </a:rPr>
              <a:t>’ from downloaded and unzipped folder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You will know you are in the correct project if you see CC-r-intro in the very top right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Check the project package status by going to the </a:t>
            </a:r>
            <a:r>
              <a:rPr lang="en-US" sz="1600" b="1" dirty="0">
                <a:latin typeface="Franklin Gothic Book" panose="020B0503020102020204" pitchFamily="34" charset="0"/>
              </a:rPr>
              <a:t>Console</a:t>
            </a:r>
            <a:r>
              <a:rPr lang="en-US" sz="1600" dirty="0">
                <a:latin typeface="Franklin Gothic Book" panose="020B0503020102020204" pitchFamily="34" charset="0"/>
              </a:rPr>
              <a:t> and typing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and hitting Enter. You should see the message “</a:t>
            </a:r>
            <a:r>
              <a:rPr lang="en-US" altLang="en-US" sz="1600" b="1" dirty="0">
                <a:latin typeface="Franklin Gothic Book" panose="020B0503020102020204" pitchFamily="34" charset="0"/>
              </a:rPr>
              <a:t>No issues found -- the project is in a consistent state.</a:t>
            </a:r>
            <a:r>
              <a:rPr lang="en-US" sz="1600" b="1" dirty="0">
                <a:latin typeface="Franklin Gothic Book" panose="020B0503020102020204" pitchFamily="34" charset="0"/>
              </a:rPr>
              <a:t>”</a:t>
            </a:r>
            <a:r>
              <a:rPr lang="en-US" sz="1600" dirty="0">
                <a:latin typeface="Franklin Gothic Book" panose="020B0503020102020204" pitchFamily="34" charset="0"/>
              </a:rPr>
              <a:t> 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If an alternative message presents asking you to install packages, instead type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restore()</a:t>
            </a:r>
            <a:r>
              <a:rPr lang="en-US" sz="1600" dirty="0">
                <a:latin typeface="Franklin Gothic Book" panose="020B0503020102020204" pitchFamily="34" charset="0"/>
              </a:rPr>
              <a:t>” and hit Enter. Enter “</a:t>
            </a:r>
            <a:r>
              <a:rPr lang="en-US" sz="1600" b="1" dirty="0">
                <a:latin typeface="Franklin Gothic Book" panose="020B0503020102020204" pitchFamily="34" charset="0"/>
              </a:rPr>
              <a:t>Y</a:t>
            </a:r>
            <a:r>
              <a:rPr lang="en-US" sz="1600" dirty="0">
                <a:latin typeface="Franklin Gothic Book" panose="020B0503020102020204" pitchFamily="34" charset="0"/>
              </a:rPr>
              <a:t>” when prompted. Once complete you can try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again.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Once that is complete, open </a:t>
            </a:r>
            <a:r>
              <a:rPr lang="en-US" sz="1600" b="1" dirty="0">
                <a:latin typeface="Franklin Gothic Book" panose="020B0503020102020204" pitchFamily="34" charset="0"/>
              </a:rPr>
              <a:t>“r-intro-coffee-coding-session-</a:t>
            </a:r>
            <a:r>
              <a:rPr lang="en-US" sz="1600" b="1" dirty="0" err="1">
                <a:latin typeface="Franklin Gothic Book" panose="020B0503020102020204" pitchFamily="34" charset="0"/>
              </a:rPr>
              <a:t>a.R</a:t>
            </a:r>
            <a:r>
              <a:rPr lang="en-US" sz="1600" dirty="0">
                <a:latin typeface="Franklin Gothic Book" panose="020B0503020102020204" pitchFamily="34" charset="0"/>
              </a:rPr>
              <a:t>” from the </a:t>
            </a:r>
            <a:r>
              <a:rPr lang="en-US" sz="1600" b="1" dirty="0">
                <a:latin typeface="Franklin Gothic Book" panose="020B0503020102020204" pitchFamily="34" charset="0"/>
              </a:rPr>
              <a:t>Files</a:t>
            </a:r>
            <a:r>
              <a:rPr lang="en-US" sz="1600" dirty="0">
                <a:latin typeface="Franklin Gothic Book" panose="020B0503020102020204" pitchFamily="34" charset="0"/>
              </a:rPr>
              <a:t> tab. Your screen should look similar to what is on screen. </a:t>
            </a:r>
            <a:endParaRPr lang="en-GB" sz="1600" b="1" dirty="0">
              <a:latin typeface="Franklin Gothic Book" panose="020B05030201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9FDA36-026F-2FA5-7506-F8A4E4602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3443" y="1063256"/>
            <a:ext cx="6626480" cy="527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65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F39EF-4D97-BBE2-9ABA-023ECB5B8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90842BC-3636-4913-872A-D0B50B102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987F89B-C229-0394-EF29-1394236A9A51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A5E14C1-AAF5-28B3-E4AE-84FF4C9015A4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E7002D-D224-A70E-DF1F-2DA1AEC81948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C5E53-B5AE-80CD-06F0-42272CB43B4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B2BC257-7F07-82E8-3CFF-47F14152BFF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042BB-99D1-0470-F531-8C78CF16BFEA}"/>
              </a:ext>
            </a:extLst>
          </p:cNvPr>
          <p:cNvSpPr txBox="1"/>
          <p:nvPr/>
        </p:nvSpPr>
        <p:spPr>
          <a:xfrm>
            <a:off x="633934" y="1593474"/>
            <a:ext cx="7456329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Future Developments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Online Training Links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TM-DOF-NISRATEAM - Staff Training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</a:t>
            </a: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RAP Pages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8"/>
              </a:rPr>
              <a:t>TM-DOF-NISRATEAM – RAP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Arial" panose="020B0604020202020204" pitchFamily="34" charset="0"/>
                <a:hlinkClick r:id="rId9" tooltip="https://teams.microsoft.com/l/entity/2a527703-1f6f-4559-a332-d8a7d288cd88/_djb2_msteams_prefix_2053460274?context=%7B%22channelId%22%3A%2219%3A1b84fe785d0545cd93c4e23c76ea64ba%40thread.tacv2%22%7D&amp;tenantId=e7a13aea-9437-4db7-a22b-cfaa4ce33b6e"/>
              </a:rPr>
              <a:t>RAP Training Pathways</a:t>
            </a:r>
            <a:endParaRPr lang="en-US" alt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There are a selection of previous Coffee and Coding session recordings available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TM-DOF-NISRATEAM -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TechLab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 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Development of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1"/>
              </a:rPr>
              <a:t>Tidyverse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understanding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Use of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/Quarto to create HTML outputs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2"/>
              </a:rPr>
              <a:t>Tech Lab RAP Skeleton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3"/>
              </a:rPr>
              <a:t>Tech Lab RAP Skeleton Lite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Coffee and Coding sessions on Intro to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in NISRA, RAP Skeleton and RAP Skeleton Lite are available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Git and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Github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for code versioning – coffee and coding sessions available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forum – contact BSDB for access (Kim Jordan or Laura McIlwee)</a:t>
            </a: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37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0CC9-7C4B-B1AA-6CF3-B96D5B16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6F0735C-CD78-B07B-D550-A1294DF19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E3BDB1-C4E3-36C2-4D62-01D9D11A7B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3D81AC-05C5-3720-6547-13D1B7494869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1F1507-9639-FAE1-4AD9-8C8C6F42B48D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5B8FAE-8AB5-1EDF-EA0E-FB41F0AD98E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B1141CA-BAF4-0D89-8910-815B76BE85C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7740A-721D-2396-653A-CD9E601D018C}"/>
              </a:ext>
            </a:extLst>
          </p:cNvPr>
          <p:cNvSpPr txBox="1"/>
          <p:nvPr/>
        </p:nvSpPr>
        <p:spPr>
          <a:xfrm>
            <a:off x="633934" y="1715400"/>
            <a:ext cx="745632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Feedback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Short 2 question survey – all feedback welcome to help improve this course</a:t>
            </a:r>
          </a:p>
          <a:p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b="1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https://dttselfserve.nidirect.gov.uk/NISRA/rateit#/Coffee_and_Coding_sessions</a:t>
            </a:r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9259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1092</TotalTime>
  <Words>549</Words>
  <Application>Microsoft Office PowerPoint</Application>
  <PresentationFormat>Widescreen</PresentationFormat>
  <Paragraphs>95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Franklin Gothic Book</vt:lpstr>
      <vt:lpstr>Franklin Gothic Demi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Hamilton, Kyle</dc:creator>
  <cp:lastModifiedBy>Hamilton, Kyle</cp:lastModifiedBy>
  <cp:revision>16</cp:revision>
  <dcterms:created xsi:type="dcterms:W3CDTF">2025-05-21T12:12:55Z</dcterms:created>
  <dcterms:modified xsi:type="dcterms:W3CDTF">2026-08-25T11:23:14Z</dcterms:modified>
</cp:coreProperties>
</file>