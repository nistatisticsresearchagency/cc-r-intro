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64" r:id="rId6"/>
    <p:sldId id="259" r:id="rId7"/>
    <p:sldId id="260" r:id="rId8"/>
    <p:sldId id="261" r:id="rId9"/>
    <p:sldId id="262" r:id="rId10"/>
    <p:sldId id="258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4" y="9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entity/2a527703-1f6f-4559-a332-d8a7d288cd88/_djb2_msteams_prefix_2053460274?context=%7B%22channelId%22%3A%2219%3A1b84fe785d0545cd93c4e23c76ea64ba%40thread.tacv2%22%7D&amp;tenantId=e7a13aea-9437-4db7-a22b-cfaa4ce33b6e" TargetMode="External"/><Relationship Id="rId13" Type="http://schemas.openxmlformats.org/officeDocument/2006/relationships/image" Target="../media/image11.png"/><Relationship Id="rId3" Type="http://schemas.openxmlformats.org/officeDocument/2006/relationships/image" Target="../media/image2.jpg"/><Relationship Id="rId7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12" Type="http://schemas.openxmlformats.org/officeDocument/2006/relationships/hyperlink" Target="https://github.com/NISRA-Tech-Lab/rap-skeleton-lite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eams.microsoft.com/l/entity/0ae35b36-0fd7-422e-805b-d53af1579093/_djb2_msteams_prefix_808832703?context=%7B%22channelId%22%3A%2219%3A6cc3c14d1d03438a991be5dae79bce0b%40thread.tacv2%22%7D&amp;tenantId=e7a13aea-9437-4db7-a22b-cfaa4ce33b6e" TargetMode="External"/><Relationship Id="rId11" Type="http://schemas.openxmlformats.org/officeDocument/2006/relationships/hyperlink" Target="https://github.com/NISRA-Tech-Lab/rap-skeleton" TargetMode="External"/><Relationship Id="rId5" Type="http://schemas.openxmlformats.org/officeDocument/2006/relationships/image" Target="../media/image4.jpg"/><Relationship Id="rId10" Type="http://schemas.openxmlformats.org/officeDocument/2006/relationships/hyperlink" Target="https://tidyverse.org/" TargetMode="External"/><Relationship Id="rId4" Type="http://schemas.openxmlformats.org/officeDocument/2006/relationships/image" Target="../media/image1.jpg"/><Relationship Id="rId9" Type="http://schemas.openxmlformats.org/officeDocument/2006/relationships/hyperlink" Target="https://nicsonline.sharepoint.com/:f:/s/TM-DOF-NISRATEAM/IgAVoGVDsWZ7Q4yJ2Mm1U1YCAWK7msPIvkfi37TaSn-U-sg?e=PTkjKO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1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ttselfserve.nidirect.gov.uk/NISRA/rateit#/Coffee_and_Coding_sessions" TargetMode="External"/><Relationship Id="rId5" Type="http://schemas.openxmlformats.org/officeDocument/2006/relationships/image" Target="../media/image4.jp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3" y="1535430"/>
            <a:ext cx="90170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An introduction to R in NISRA</a:t>
            </a:r>
          </a:p>
          <a:p>
            <a:endParaRPr lang="en-US" sz="12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5E4FE5-2AE2-7B09-B51A-C958012E8A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28" y="5793588"/>
            <a:ext cx="959623" cy="7437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B8814A-54D6-A1F8-1175-B9644D5C51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1302" y="5793588"/>
            <a:ext cx="2121650" cy="74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AFCA03C-9D10-429C-ABAB-C2683D895B0D}"/>
              </a:ext>
            </a:extLst>
          </p:cNvPr>
          <p:cNvSpPr txBox="1"/>
          <p:nvPr/>
        </p:nvSpPr>
        <p:spPr>
          <a:xfrm>
            <a:off x="7253393" y="1792230"/>
            <a:ext cx="455224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GB" sz="2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GB" sz="2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Toilets</a:t>
            </a:r>
          </a:p>
          <a:p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33934" y="1739476"/>
            <a:ext cx="53548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Housekeeping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lock outline">
            <a:extLst>
              <a:ext uri="{FF2B5EF4-FFF2-40B4-BE49-F238E27FC236}">
                <a16:creationId xmlns:a16="http://schemas.microsoft.com/office/drawing/2014/main" id="{EDA1719C-E93E-F3DE-13E7-9FDE939923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77395" y="2498355"/>
            <a:ext cx="1341916" cy="1341916"/>
          </a:xfrm>
          <a:prstGeom prst="rect">
            <a:avLst/>
          </a:prstGeom>
        </p:spPr>
      </p:pic>
      <p:pic>
        <p:nvPicPr>
          <p:cNvPr id="9" name="Graphic 8" descr="Latte Cup with solid fill">
            <a:extLst>
              <a:ext uri="{FF2B5EF4-FFF2-40B4-BE49-F238E27FC236}">
                <a16:creationId xmlns:a16="http://schemas.microsoft.com/office/drawing/2014/main" id="{98B662A9-157E-C11D-26C4-8B1F20D897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77395" y="4599150"/>
            <a:ext cx="1341916" cy="1341916"/>
          </a:xfrm>
          <a:prstGeom prst="rect">
            <a:avLst/>
          </a:prstGeom>
        </p:spPr>
      </p:pic>
      <p:pic>
        <p:nvPicPr>
          <p:cNvPr id="11" name="Graphic 10" descr="Toilet outline">
            <a:extLst>
              <a:ext uri="{FF2B5EF4-FFF2-40B4-BE49-F238E27FC236}">
                <a16:creationId xmlns:a16="http://schemas.microsoft.com/office/drawing/2014/main" id="{69687160-0936-4BF1-8826-31B38843B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02844" y="2137178"/>
            <a:ext cx="1453337" cy="14533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72809E-1B97-3748-B7C2-26A4E2E25DF1}"/>
              </a:ext>
            </a:extLst>
          </p:cNvPr>
          <p:cNvSpPr txBox="1"/>
          <p:nvPr/>
        </p:nvSpPr>
        <p:spPr>
          <a:xfrm>
            <a:off x="633934" y="4976413"/>
            <a:ext cx="3537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Tea/Coffee/Water</a:t>
            </a:r>
          </a:p>
          <a:p>
            <a:endParaRPr lang="en-GB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8692DB-60D8-9068-4DC9-7F8C7226F0D1}"/>
              </a:ext>
            </a:extLst>
          </p:cNvPr>
          <p:cNvSpPr txBox="1"/>
          <p:nvPr/>
        </p:nvSpPr>
        <p:spPr>
          <a:xfrm>
            <a:off x="633934" y="2638615"/>
            <a:ext cx="3465793" cy="1456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90 minute session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10 minute comfort break</a:t>
            </a:r>
          </a:p>
          <a:p>
            <a:endParaRPr lang="en-GB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3B42E4-4FA0-92B9-4D98-68E7DBB0EE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373611"/>
            <a:ext cx="5515798" cy="8388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B56F6-3BBE-287C-815B-3C670BFAA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D54318C-73D1-9BE9-7659-A034F3C82331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B6A39-A114-377F-AFFC-790A33227EAA}"/>
              </a:ext>
            </a:extLst>
          </p:cNvPr>
          <p:cNvSpPr txBox="1"/>
          <p:nvPr/>
        </p:nvSpPr>
        <p:spPr>
          <a:xfrm>
            <a:off x="627014" y="1739476"/>
            <a:ext cx="10868299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Overview of sessions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This introductory set of sessions is delivered in 2 parts (A and B)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It is assumed you have attended Part A when attending Part B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If you missed Part A, it is advised that you wait until the next month for a spot on that session, before booking into Part B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Outside of the above, this is a course designed for absolute beginners in R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A we cover: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Types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Structures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Packages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Processing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69826B-E06D-6641-3EDA-794818D53FF7}"/>
              </a:ext>
            </a:extLst>
          </p:cNvPr>
          <p:cNvSpPr txBox="1"/>
          <p:nvPr/>
        </p:nvSpPr>
        <p:spPr>
          <a:xfrm>
            <a:off x="3120327" y="4468208"/>
            <a:ext cx="343814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B we cover:</a:t>
            </a:r>
            <a:endParaRPr lang="en-GB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Summarisation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Else/if &amp; Case when logic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Dataset joins 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Pivoting data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Charts</a:t>
            </a:r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2D611D-2235-FF89-0940-5FF24BAC6E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373611"/>
            <a:ext cx="5515798" cy="8388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173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C377-2686-E875-7BA4-FDE886A03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BE73ED2-E3B6-0DBD-1CDD-D4037B8EBAA8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65C05-9C2E-6EF4-7403-DA40BDCC70FA}"/>
              </a:ext>
            </a:extLst>
          </p:cNvPr>
          <p:cNvSpPr txBox="1"/>
          <p:nvPr/>
        </p:nvSpPr>
        <p:spPr>
          <a:xfrm>
            <a:off x="2791144" y="2007235"/>
            <a:ext cx="614384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60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Name</a:t>
            </a:r>
            <a:endParaRPr lang="en-GB" sz="6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E8EE9F-4415-37EC-A7DC-ECC8C6BCEE7F}"/>
              </a:ext>
            </a:extLst>
          </p:cNvPr>
          <p:cNvSpPr txBox="1"/>
          <p:nvPr/>
        </p:nvSpPr>
        <p:spPr>
          <a:xfrm>
            <a:off x="2791143" y="3522303"/>
            <a:ext cx="61438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60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Work area</a:t>
            </a:r>
            <a:endParaRPr lang="en-GB" sz="6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06BA0D-9A75-1E40-959B-BCB27B7AC11F}"/>
              </a:ext>
            </a:extLst>
          </p:cNvPr>
          <p:cNvSpPr txBox="1"/>
          <p:nvPr/>
        </p:nvSpPr>
        <p:spPr>
          <a:xfrm>
            <a:off x="2791144" y="5037372"/>
            <a:ext cx="61438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60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Experience with R</a:t>
            </a:r>
            <a:endParaRPr lang="en-GB" sz="6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A566CC-BF60-906E-F20A-811A7DD926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373611"/>
            <a:ext cx="5515798" cy="8388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0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F49D3-41E2-98C3-0754-51D6D778D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71B7551-AD05-03CB-F1E3-7779C02F477F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D29B2-FF87-E578-E872-CE5CDB07A32E}"/>
              </a:ext>
            </a:extLst>
          </p:cNvPr>
          <p:cNvSpPr txBox="1"/>
          <p:nvPr/>
        </p:nvSpPr>
        <p:spPr>
          <a:xfrm>
            <a:off x="627015" y="1739476"/>
            <a:ext cx="8961120" cy="4819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Free and Open Source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Large support community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Highly flexible and extensible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– consistency across agency and cost savings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Not just a pure statistics software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Everything you would expect from a stats package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Great chart and mapping options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Digital document creation (HTML/PDF etc.)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Analysis that is transparent, easy to share and with high levels of reproducibility</a:t>
            </a:r>
            <a:endParaRPr lang="en-GB" sz="11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FC522-C27B-FD86-DCC0-D98958B52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373611"/>
            <a:ext cx="5515798" cy="8388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777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462338-E89C-2242-B33E-53642E6079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373611"/>
            <a:ext cx="5515798" cy="8388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7D2565-389D-18D6-8FB2-4FF344A36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29" y="154576"/>
            <a:ext cx="2263140" cy="3441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D41A75-EBEB-9DAD-EFFB-EE38505019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29" y="154576"/>
            <a:ext cx="2263140" cy="3441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“r-intro-coffee-coding-session-</a:t>
            </a:r>
            <a:r>
              <a:rPr lang="en-US" sz="1600" b="1" dirty="0" err="1">
                <a:latin typeface="Franklin Gothic Book" panose="020B0503020102020204" pitchFamily="34" charset="0"/>
              </a:rPr>
              <a:t>a.R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D3B641-DD68-F7F6-F2B0-7D58972C7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29" y="154576"/>
            <a:ext cx="2263140" cy="3441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593474"/>
            <a:ext cx="7456329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Online Training Links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6"/>
              </a:rPr>
              <a:t>TM-DOF-NISRATEAM - Staff Training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 – RAP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" panose="020B0604020202020204" pitchFamily="34" charset="0"/>
                <a:hlinkClick r:id="rId8" tooltip="https://teams.microsoft.com/l/entity/2a527703-1f6f-4559-a332-d8a7d288cd88/_djb2_msteams_prefix_2053460274?context=%7B%22channelId%22%3A%2219%3A1b84fe785d0545cd93c4e23c76ea64ba%40thread.tacv2%22%7D&amp;tenantId=e7a13aea-9437-4db7-a22b-cfaa4ce33b6e"/>
              </a:rPr>
              <a:t>RAP Training Pathways</a:t>
            </a:r>
            <a:endParaRPr lang="en-US" alt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There are a selection of previous Coffee and Coding session recordings available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9"/>
              </a:rPr>
              <a:t>TM-DOF-NISRATEAM -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  <a:hlinkClick r:id="rId9"/>
              </a:rPr>
              <a:t>TechLab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9"/>
              </a:rPr>
              <a:t> 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1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2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 are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sessions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for access (Kim Jordan or Laura McIlwee)</a:t>
            </a: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8BF5A1-EBDD-CD76-A48E-6EE002FDA0B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373611"/>
            <a:ext cx="5515798" cy="8388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6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4FA059-3483-75DB-D29C-0627547F4E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373611"/>
            <a:ext cx="5515798" cy="8388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1094</TotalTime>
  <Words>549</Words>
  <Application>Microsoft Office PowerPoint</Application>
  <PresentationFormat>Widescreen</PresentationFormat>
  <Paragraphs>95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17</cp:revision>
  <dcterms:created xsi:type="dcterms:W3CDTF">2025-05-21T12:12:55Z</dcterms:created>
  <dcterms:modified xsi:type="dcterms:W3CDTF">2026-08-25T11:35:03Z</dcterms:modified>
</cp:coreProperties>
</file>